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MES-DevKG  ·  용어사전 서비스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현장어 해석 파이프라인
</a:t>
            </a:r>
            <a:pPr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8FD6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· 구현 가이드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sz="1350">
                <a:solidFill>
                  <a:srgbClr val="C7D6CF"/>
                </a:solidFill>
                <a:latin typeface="Calibri"/>
              </a:rPr>
              <a:t>정규화 → 사전 정확 일치 → 부분·퍼지 일치 → 어근 조합 → 오타 보정 → 의미 폴백 → LLM 판정으로 이어지는 7단 캐스케이드를 Neo4j / Milvus / Kiwi / graphify 레벨까지 내려 설계한다.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5257800"/>
            <a:ext cx="2121408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대상 · 반도체 MES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08960" y="5257800"/>
            <a:ext cx="4023360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525780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스택 · Neo4j + Milvus + GLM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296912" y="5257800"/>
            <a:ext cx="3291840" cy="329184"/>
          </a:xfrm>
          <a:prstGeom prst="roundRect">
            <a:avLst>
              <a:gd name="adj" fmla="val 11111"/>
            </a:avLst>
          </a:prstGeom>
          <a:solidFill>
            <a:srgbClr val="1D2B25"/>
          </a:solidFill>
          <a:ln w="9525">
            <a:solidFill>
              <a:srgbClr val="354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2" y="525780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근거등급 · 검수됨/자동수집/관련추정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5E706A"/>
                </a:solidFill>
                <a:latin typeface="Courier New"/>
              </a:rPr>
              <a:t>2026-08-19 · 검토개정 · 내부 배포용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80160" y="160020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정의와 3계층 매핑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95144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8658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38658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모델 — 프레임 구조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081528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729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17296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별칭 사전과 SKOS 매핑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867912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93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95935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600">
                <a:solidFill>
                  <a:srgbClr val="14201C"/>
                </a:solidFill>
                <a:latin typeface="Calibri"/>
              </a:rPr>
              <a:t>7단 캐스케이드 상세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654296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7457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474573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저장소·검색엔진 비교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1600200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근거(Provenance) 설계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2295144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238658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95160" y="2386584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2-레인 런타임 아키텍처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3640" y="3081528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17296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95160" y="3172968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llm-wiki · graphify 연계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3867912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95935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95160" y="3959352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평가 지표와 골든셋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257800" cy="0"/>
          </a:xfrm>
          <a:prstGeom prst="line">
            <a:avLst/>
          </a:prstGeom>
          <a:noFill/>
          <a:ln w="9525">
            <a:solidFill>
              <a:srgbClr val="C7D0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7457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995160" y="4745736"/>
            <a:ext cx="4526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도입 로드맵과 리스크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MES-DevKG · 현장어 해석 가이드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14201C"/>
                </a:solidFill>
                <a:latin typeface="Cambria"/>
              </a:rPr>
              <a:t>도메인 용어 정규화 + 엔터티 링킹 문제다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500">
                <a:solidFill>
                  <a:srgbClr val="3D4C46"/>
                </a:solidFill>
                <a:latin typeface="Calibri"/>
              </a:rPr>
              <a:t>“랏홀드”는 문자열 치환이 아니라 3계층 사이의 매핑이다. 캐스케이드는 Layer 1→2의 후보 생성뿐 아니라 중의성 해소와 해석 거부까지 담당하며, Layer 2→3은 결정적 그래프 조인으로 남긴다.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429000" cy="324612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· 현장어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“랏홀드”, “홀드 걸렸다”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“챔버 다운”, “CH 죽었다”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“예약 다운”, “엔드런”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4983480"/>
            <a:ext cx="2971800" cy="0"/>
          </a:xfrm>
          <a:prstGeom prst="line">
            <a:avLst/>
          </a:prstGeom>
          <a:noFill/>
          <a:ln w="6350">
            <a:solidFill>
              <a:srgbClr val="A86A05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skos:altLabel / hiddenLabel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2240280"/>
            <a:ext cx="3429000" cy="324612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· 표준 용어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Hold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2628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Down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2628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Down / EndRun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26280" y="4983480"/>
            <a:ext cx="2971800" cy="0"/>
          </a:xfrm>
          <a:prstGeom prst="line">
            <a:avLst/>
          </a:prstGeom>
          <a:noFill/>
          <a:ln w="6350">
            <a:solidFill>
              <a:srgbClr val="0F6B62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52628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skos:prefLabel · :Term 노드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46720" y="2240280"/>
            <a:ext cx="3429000" cy="3246120"/>
          </a:xfrm>
          <a:prstGeom prst="rect">
            <a:avLst/>
          </a:prstGeom>
          <a:solidFill>
            <a:srgbClr val="E1DDF0"/>
          </a:solidFill>
          <a:ln w="12700">
            <a:solidFill>
              <a:srgbClr val="4A3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24414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· 시스템 식별자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29260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mes_lothold.hold_code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75320" y="3493008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CH#_DOWN_ACTION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75320" y="4059936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mes_eqpmas_ext.resv_event_desc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75320" y="4983480"/>
            <a:ext cx="2971800" cy="0"/>
          </a:xfrm>
          <a:prstGeom prst="line">
            <a:avLst/>
          </a:prstGeom>
          <a:noFill/>
          <a:ln w="6350">
            <a:solidFill>
              <a:srgbClr val="4A3E7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8275320" y="51023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:Table / :Column / :CodeValue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032504" y="3753612"/>
            <a:ext cx="210312" cy="219456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1544" y="3753612"/>
            <a:ext cx="210312" cy="219456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8" name="Text 26"/>
          <p:cNvSpPr/>
          <p:nvPr/>
        </p:nvSpPr>
        <p:spPr>
          <a:xfrm>
            <a:off x="3566160" y="5541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ALIAS_OF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554126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MAPS_TO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5742432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74243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경계 </a:t>
            </a:r>
            <a:pPr indent="0" marL="0">
              <a:buNone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추론은 1→2 구간에만 적용한다. 2→3을 캐스케이드에 섞으면 resv_event_desc와 resv_event_dttm이 “유사하다”는 치명적 오탐이 생긴다.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문제 정의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설계를 지배하는 다섯 원칙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" cy="768096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결정적 우선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246120" y="15087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입력엔 항상 같은 출력. 사전·규칙 단계에서 풀리면 LLM을 부르지 않는다.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0" y="15087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캐스케이드 순서 = 결정성 내림차순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2296" cy="768096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231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근거 동반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3246120" y="24231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400">
                <a:solidFill>
                  <a:srgbClr val="3D4C46"/>
                </a:solidFill>
                <a:latin typeface="Calibri"/>
              </a:rPr>
              <a:t>해석 결과는 “어느 단계에서 찾았는가”와 “그 매핑이 어떤 근거로 검수됐는가”를 함께 기록한다.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0" y="24231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0F6B62"/>
                </a:solidFill>
                <a:latin typeface="Courier New"/>
              </a:rPr>
              <a:t>stage · grade · decision 분리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82296" cy="768096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실패의 자산화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246120" y="33375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질의는 버리지 않고 별칭 후보로 스테이징한다.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0" y="33375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선순환 루프 (§06)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82296" cy="768096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2519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사람이 최종 승격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246120" y="42519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수집된 별칭은 SME 검수를 통과해야 “검수됨” 등급이 된다.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0" y="42519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 → curated 2단 테이블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82296" cy="768096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66360"/>
            <a:ext cx="23317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 하강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3246120" y="516636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400">
                <a:solidFill>
                  <a:srgbClr val="3D4C46"/>
                </a:solidFill>
                <a:latin typeface="Calibri"/>
              </a:rPr>
              <a:t>단계가 내려갈수록 지연·비용이 커지므로 상위 단계 적중률과 오확정(False Accept)을 함께 관리한다.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61120" y="516636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8C2F3B"/>
                </a:solidFill>
                <a:latin typeface="Courier New"/>
              </a:rPr>
              <a:t>S2 추세 + False Accept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문제 정의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02 · 데이터 모델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CSV의 ‘분류’는 프레임 판별자다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분류(Event_Rule / Process / Definition / Request / DML)에 따라 채워지는 하위 컬럼군이 다른 프레임 구조. 평면 테이블로 두면 NULL 80%가 되지만, 그래프로 옮기면 프레임별 노드로 자연 분해된다.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3017520"/>
        </p:xfrm>
        <a:graphic>
          <a:graphicData uri="http://schemas.openxmlformats.org/drawingml/2006/table">
            <a:tbl>
              <a:tblPr/>
              <a:tblGrid>
                <a:gridCol w="1737360"/>
                <a:gridCol w="374904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채워지는 컬럼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그래프 표현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definition.subject / predicate / 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(:Term)-[:ASSERTS]-&gt;(:Statement)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process.from / to / relation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(:State)-[:TRANSITIONS_TO]-&gt;(:State)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Event_Rule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/ condition / action /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(:Trigger)-[:WHEN]-&gt;(:Condition)-[:THEN]-&gt;(:Action)-[:YIELDS]-&gt;(:Result)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request.intent / 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(:Intent)-[:TARGETS]-&gt;(:Term|:Column)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/ column / value / 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(:Table)-[:HAS_COLUMN]-&gt;(:Column)-[:HAS_VALUE]-&gt;(:CodeValue)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E1DDF0"/>
          </a:solidFill>
          <a:ln w="9525">
            <a:solidFill>
              <a:srgbClr val="4A3E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68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4A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 — “Chamber Down 공통 로직 개선”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은 Event_Rule 프레임. trigger → condition → action → result 4노드 체인이 되고, 현장어 해석은 trigger/condition 텍스트 안의 CH#, FLAG, Down 토큰에 붙는다.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데이터 모델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· 별칭 사전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14201C"/>
                </a:solidFill>
                <a:latin typeface="Cambria"/>
              </a:rPr>
              <a:t>SKOS 3단 라벨을 차용한 별칭 설계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20">
                <a:solidFill>
                  <a:srgbClr val="3D4C46"/>
                </a:solidFill>
                <a:latin typeface="Calibri"/>
              </a:rPr>
              <a:t>W3C SKOS의 prefLabel(표준) / altLabel(대체 라벨) / hiddenLabel(검색 보조용 비표시 라벨) 의미론을 차용한다. 라벨 종류와 검수 등급(source_grade)은 별도 속성으로 관리한다.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69164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skos:prefLabel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용어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“Lot Hold”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:Term.pref_label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520440" cy="169164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skos:altLabel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3D4C46"/>
                </a:solidFill>
                <a:latin typeface="Calibri"/>
              </a:rPr>
              <a:t>검수된 동의어·약어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26280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“랏홀드”, “로트홀드”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검수됨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01584" y="2148840"/>
            <a:ext cx="3520440" cy="1691640"/>
          </a:xfrm>
          <a:prstGeom prst="rect">
            <a:avLst/>
          </a:prstGeom>
          <a:solidFill>
            <a:srgbClr val="F2DCDE"/>
          </a:solidFill>
          <a:ln w="12700">
            <a:solidFill>
              <a:srgbClr val="8C2F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skos:hiddenLabel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02752" y="260604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50">
                <a:solidFill>
                  <a:srgbClr val="3D4C46"/>
                </a:solidFill>
                <a:latin typeface="Calibri"/>
              </a:rPr>
              <a:t>오탈자·검색 보조 (비표시)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02752" y="2971800"/>
            <a:ext cx="3118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“혿드”, “랏훌드”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2752" y="3429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자동수집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1064240" cy="210312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  <a:gridCol w="5303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속성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예시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역할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0F6B62"/>
                          </a:solidFill>
                          <a:latin typeface="Courier New"/>
                        </a:rPr>
                        <a:t>surface_norm / surface_lex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ourier New"/>
                        </a:rPr>
                        <a:t>랏홀드 / 랏 홀드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alibri"/>
                        </a:rPr>
                        <a:t>S2 exact / S3 검색 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0F6B62"/>
                          </a:solidFill>
                          <a:latin typeface="Courier New"/>
                        </a:rPr>
                        <a:t>jamo_key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ourier New"/>
                        </a:rPr>
                        <a:t>ㄹㅏㅅㅎㅗㄹㄷㅡ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alibri"/>
                        </a:rPr>
                        <a:t>S5 편집거리 계산 키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0F6B62"/>
                          </a:solidFill>
                          <a:latin typeface="Courier New"/>
                        </a:rPr>
                        <a:t>scope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ourier New"/>
                        </a:rPr>
                        <a:t>PHOTO / GLOBAL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alibri"/>
                        </a:rPr>
                        <a:t>공정·라인별 중의성 격리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0F6B62"/>
                          </a:solidFill>
                          <a:latin typeface="Courier New"/>
                        </a:rPr>
                        <a:t>grade / curated_by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ourier New"/>
                        </a:rPr>
                        <a:t>검수됨 / SME_kim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00">
                          <a:solidFill>
                            <a:srgbClr val="14201C"/>
                          </a:solidFill>
                          <a:latin typeface="Calibri"/>
                        </a:rPr>
                        <a:t>검수 승격·감사 추적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별칭 사전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FFFFFF"/>
                </a:solidFill>
                <a:latin typeface="Cambria"/>
              </a:rPr>
              <a:t>7단 해석 캐스케이드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5440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5440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6" name="Text 4"/>
          <p:cNvSpPr/>
          <p:nvPr/>
        </p:nvSpPr>
        <p:spPr>
          <a:xfrm>
            <a:off x="545440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592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592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Kiwi · 조사제거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9336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10" name="Shape 8"/>
          <p:cNvSpPr/>
          <p:nvPr/>
        </p:nvSpPr>
        <p:spPr>
          <a:xfrm>
            <a:off x="2154784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54784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2" name="Text 10"/>
          <p:cNvSpPr/>
          <p:nvPr/>
        </p:nvSpPr>
        <p:spPr>
          <a:xfrm>
            <a:off x="2154784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27936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 일치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27936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50">
                <a:solidFill>
                  <a:srgbClr val="9FB3AB"/>
                </a:solidFill>
                <a:latin typeface="Courier New"/>
              </a:rPr>
              <a:t>range / dict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08680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16" name="Shape 14"/>
          <p:cNvSpPr/>
          <p:nvPr/>
        </p:nvSpPr>
        <p:spPr>
          <a:xfrm>
            <a:off x="3764128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0F6B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64128" y="2286000"/>
            <a:ext cx="1444752" cy="36576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8" name="Text 16"/>
          <p:cNvSpPr/>
          <p:nvPr/>
        </p:nvSpPr>
        <p:spPr>
          <a:xfrm>
            <a:off x="3764128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280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일치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7280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Lucene · BM25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8024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22" name="Shape 20"/>
          <p:cNvSpPr/>
          <p:nvPr/>
        </p:nvSpPr>
        <p:spPr>
          <a:xfrm>
            <a:off x="5373472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A86A0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3472" y="2286000"/>
            <a:ext cx="1444752" cy="36576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4" name="Text 22"/>
          <p:cNvSpPr/>
          <p:nvPr/>
        </p:nvSpPr>
        <p:spPr>
          <a:xfrm>
            <a:off x="5373472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6624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어근 조합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6624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랏＋홀드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27368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2816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A86A0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82816" y="2286000"/>
            <a:ext cx="1444752" cy="36576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30" name="Text 28"/>
          <p:cNvSpPr/>
          <p:nvPr/>
        </p:nvSpPr>
        <p:spPr>
          <a:xfrm>
            <a:off x="6982816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55968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오타 보정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5968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자모 편집거리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436712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34" name="Shape 32"/>
          <p:cNvSpPr/>
          <p:nvPr/>
        </p:nvSpPr>
        <p:spPr>
          <a:xfrm>
            <a:off x="8592160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8C2F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92160" y="2286000"/>
            <a:ext cx="1444752" cy="36576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36" name="Text 34"/>
          <p:cNvSpPr/>
          <p:nvPr/>
        </p:nvSpPr>
        <p:spPr>
          <a:xfrm>
            <a:off x="8592160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65312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폴백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65312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Milvus + RRF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046056" y="3163824"/>
            <a:ext cx="146304" cy="164592"/>
          </a:xfrm>
          <a:prstGeom prst="rightArrow">
            <a:avLst/>
          </a:prstGeom>
          <a:solidFill>
            <a:srgbClr val="5E706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201504" y="2286000"/>
            <a:ext cx="1444752" cy="1920240"/>
          </a:xfrm>
          <a:prstGeom prst="rect">
            <a:avLst/>
          </a:prstGeom>
          <a:solidFill>
            <a:srgbClr val="1B2A24"/>
          </a:solidFill>
          <a:ln w="15875">
            <a:solidFill>
              <a:srgbClr val="8C2F3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201504" y="2286000"/>
            <a:ext cx="1444752" cy="36576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42" name="Text 40"/>
          <p:cNvSpPr/>
          <p:nvPr/>
        </p:nvSpPr>
        <p:spPr>
          <a:xfrm>
            <a:off x="10201504" y="228600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0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74656" y="27889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판정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0274656" y="35204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제약형 프롬프트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5440" y="4343400"/>
            <a:ext cx="11100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70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→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5440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sz="1050">
                <a:solidFill>
                  <a:srgbClr val="8A9C95"/>
                </a:solidFill>
                <a:latin typeface="Courier New"/>
              </a:rPr>
              <a:t>S2 → EXACT / curated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245712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sz="1050">
                <a:solidFill>
                  <a:srgbClr val="8A9C95"/>
                </a:solidFill>
                <a:latin typeface="Courier New"/>
              </a:rPr>
              <a:t>S3~S5 → APPROX · RULE · TYPO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945984" y="4709160"/>
            <a:ext cx="3700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pPr algn="ctr" indent="0" marL="0">
              <a:buNone/>
            </a:pPr>
            <a:r>
              <a:rPr sz="1050">
                <a:solidFill>
                  <a:srgbClr val="8A9C95"/>
                </a:solidFill>
                <a:latin typeface="Courier New"/>
              </a:rPr>
              <a:t>S6~S7 → HYBRID · LLM_SELECT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5440" y="5349240"/>
            <a:ext cx="1110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230">
                <a:solidFill>
                  <a:srgbClr val="C7D6CF"/>
                </a:solidFill>
                <a:latin typeface="Calibri"/>
              </a:rPr>
              <a:t>단계는 provenance일 뿐 근거 등급과 동일하지 않다 — resolution_stage · match_mode · source_grade · decision을 분리한다.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캐스케이드 개요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정규화 · S2 정확 일치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0F6B62"/>
                </a:solidFill>
                <a:latin typeface="Courier New"/>
              </a:rPr>
              <a:t>재현 가능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0F6B62"/>
                </a:solidFill>
                <a:latin typeface="Courier New"/>
              </a:rPr>
              <a:t>S2 exact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00">
                <a:solidFill>
                  <a:srgbClr val="3D4C46"/>
                </a:solidFill>
                <a:latin typeface="Calibri"/>
              </a:rPr>
              <a:t>S1의 목적은 입력을 “교정”하는 것이 아니라 동일 표현을 동일 검색 키로 재현하는 것이다. 오타 보정은 S5로 분리하고 surface_norm(정확 일치)과 surface_lex(검색용 토큰 경계)를 함께 만든다. S2는 curated exact만 자동 확정한다.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309360" cy="3063240"/>
        </p:xfrm>
        <a:graphic>
          <a:graphicData uri="http://schemas.openxmlformats.org/drawingml/2006/table">
            <a:tbl>
              <a:tblPr/>
              <a:tblGrid>
                <a:gridCol w="1920240"/>
                <a:gridCol w="438912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S1 설계 요소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적용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Unicode / NFC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입력 정규형 통일 — 필수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Kiwi 형태소 분석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조사·어미 분리, 도메인 사용자사전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surface_norm / surface_lex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S2 compact key / S3 token-aware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오타 보정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S1에서 금지 — S5 후보 생성 책임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6F847D"/>
                </a:solidFill>
                <a:latin typeface="Courier New"/>
              </a:rPr>
              <a:t>PYTHON · 정규화 파이프라인 (Kiwi 0.23+)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sz="850">
                <a:solidFill>
                  <a:srgbClr val="D6E2DD"/>
                </a:solidFill>
                <a:latin typeface="Courier New"/>
              </a:rPr>
              <a:t>from kiwipiepy import Kiwi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import re, unicodedata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kiwi = Kiwi()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DROP = {'JKS','JKO','JKB','JX','EF','EC','EP','SP'}</a:t>
            </a:r>
            <a:br/>
            <a:br/>
            <a:r>
              <a:rPr sz="850">
                <a:solidFill>
                  <a:srgbClr val="D6E2DD"/>
                </a:solidFill>
                <a:latin typeface="Courier New"/>
              </a:rPr>
              <a:t>def normalize(text):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t = unicodedata.normalize('NFC', text).lower()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t = re.sub(r'[-_/]+', ' ', t)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t = re.sub(r'\s+', ' ', t).strip()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kept = [x.form for x in kiwi.tokenize(t) if x.tag not in DROP]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lex = ' '.join(kept)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return {'surface_lex': lex,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            'surface_norm': re.sub(r'\s+', '', lex)}</a:t>
            </a:r>
            <a:br/>
            <a:r>
              <a:rPr sz="850">
                <a:solidFill>
                  <a:srgbClr val="D6E2DD"/>
                </a:solidFill>
                <a:latin typeface="Courier New"/>
              </a:rPr>
              <a:t># typo 변환은 S5에서만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5815584"/>
            <a:ext cx="11064240" cy="566928"/>
          </a:xfrm>
          <a:prstGeom prst="roundRect">
            <a:avLst>
              <a:gd name="adj" fmla="val 645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815584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sz="1160">
                <a:solidFill>
                  <a:srgbClr val="14201C"/>
                </a:solidFill>
                <a:latin typeface="Calibri"/>
              </a:rPr>
              <a:t>주의 — 시스템 식별자(FQN)는 별칭 정규화로 밑줄·구분자를 지우지 말고 “식별자 정규식 → 결정적 FQN 조회” 경로로 먼저 우회한다.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S1·S2 상세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부분 일치 · S4 어근 조합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0F6B62"/>
                </a:solidFill>
                <a:latin typeface="Courier New"/>
              </a:rPr>
              <a:t>근사 매칭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00" b="1">
                <a:solidFill>
                  <a:srgbClr val="0F6B62"/>
                </a:solidFill>
                <a:latin typeface="Courier New"/>
              </a:rPr>
              <a:t>검증 임계값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300">
                <a:solidFill>
                  <a:srgbClr val="3D4C46"/>
                </a:solidFill>
                <a:latin typeface="Calibri"/>
              </a:rPr>
              <a:t>S3는 curated 사전에서 근사 후보를 생성한다. 대상 Term이 검수됐어도 현재 입력과의 매칭은 APPROX이므로 점수·마진·scope가 애매하면 ASK로 내려보낸다. 구현 경로는 고정 건수 기준이 아니라 동일 골든셋/부하 벤치마크로 하나를 선택한다.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6309360" cy="306324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</a:tblGrid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경로 / 규칙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선택·검증 기준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Neo4j full-text /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그래프 일원화; analyzer는 배포환경에서 확인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RapidFuzz 인메모리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동일 데이터·동시성에서 P95/정확도 벤치마크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58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공통 게이트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000000"/>
                          </a:solidFill>
                          <a:latin typeface="Calibri"/>
                        </a:rPr>
                        <a:t>score + top1/top2 margin + scope + hard negative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F84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어근 분해 (S4)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sz="919">
                <a:solidFill>
                  <a:srgbClr val="D6E2DD"/>
                </a:solidFill>
                <a:latin typeface="Courier New"/>
              </a:rPr>
              <a:t># 최장일치 DP 분해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MORPH = {'랏':'LOT','홀드':'HOLD',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     '챔버':'CHAMBER','다운':'DOWN'}</a:t>
            </a:r>
            <a:br/>
            <a:br/>
            <a:r>
              <a:rPr sz="919">
                <a:solidFill>
                  <a:srgbClr val="D6E2DD"/>
                </a:solidFill>
                <a:latin typeface="Courier New"/>
              </a:rPr>
              <a:t>def segment(s):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n=len(s); dp=[None]*(n+1); dp[0]=[]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for i in range(1,n+1):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    for L in range(min(MAX_LEN,i),0,-1):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        p = s[i-L:i]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        if dp[i-L] is not None and p in MORPH: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            dp[i] = dp[i-L]+[MORPH[p]]; break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    return dp[n]   # ['LOT','HOLD'] or None</a:t>
            </a:r>
            <a:br/>
            <a:br/>
            <a:r>
              <a:rPr sz="919">
                <a:solidFill>
                  <a:srgbClr val="D6E2DD"/>
                </a:solidFill>
                <a:latin typeface="Courier New"/>
              </a:rPr>
              <a:t># S4 결과는 TENTATIVE/ASK + 후보 스테이징</a:t>
            </a:r>
            <a:br/>
            <a:r>
              <a:rPr sz="919">
                <a:solidFill>
                  <a:srgbClr val="D6E2DD"/>
                </a:solidFill>
                <a:latin typeface="Courier New"/>
              </a:rPr>
              <a:t># → SME 승인 후 S2 curated exact로 승격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5879592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F5E7CC"/>
          </a:solidFill>
          <a:ln w="9525">
            <a:solidFill>
              <a:srgbClr val="A86A0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5879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sz="1140">
                <a:solidFill>
                  <a:srgbClr val="14201C"/>
                </a:solidFill>
                <a:latin typeface="Calibri"/>
              </a:rPr>
              <a:t>S3 구현 경로는 레코드 수(5만/10만)로 고정하지 않는다 — P95 지연·Precision·Recall@K·운영복잡도를 같은 조건에서 비교해 하나를 선택한다.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S3·S4 상세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 · 캐스케이드 상세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 오타 보정 · S6 의미 폴백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F2DCD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173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확률적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84832" y="1417320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D7E8E4"/>
          </a:solidFill>
          <a:ln/>
        </p:spPr>
      </p:sp>
      <p:sp>
        <p:nvSpPr>
          <p:cNvPr id="7" name="Text 5"/>
          <p:cNvSpPr/>
          <p:nvPr/>
        </p:nvSpPr>
        <p:spPr>
          <a:xfrm>
            <a:off x="2084832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오탐 주의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sz="1280">
                <a:solidFill>
                  <a:srgbClr val="3D4C46"/>
                </a:solidFill>
                <a:latin typeface="Calibri"/>
              </a:rPr>
              <a:t>S5는 한글을 호환 자모로 분해한 편집거리로 오타 후보를 만든다. S6는 Milvus에서 BM25 sparse + dense vector를 hybrid_search로 결합한다. RRF는 후보 순위 융합용이며 신뢰도 확률이 아니므로 ACCEPT/ASK 기준은 골든셋에서 별도로 보정한다.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3093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–"/>
            </a:pPr>
            <a:r>
              <a:rPr sz="1140">
                <a:solidFill>
                  <a:srgbClr val="14201C"/>
                </a:solidFill>
                <a:latin typeface="Calibri"/>
              </a:rPr>
              <a:t>“홀그”↔“홀드”: 음절 1/2 변경 vs 자모 1/5 변경 — 자모 분해로 오타 심각도 정밀화</a:t>
            </a:r>
            <a:br/>
            <a:r>
              <a:rPr sz="1140">
                <a:solidFill>
                  <a:srgbClr val="14201C"/>
                </a:solidFill>
                <a:latin typeface="Calibri"/>
              </a:rPr>
              <a:t>짧은 토큰은 hard negative가 많으므로 길이별 임계값 또는 S5 skip 정책</a:t>
            </a:r>
            <a:br/>
            <a:r>
              <a:rPr sz="1140">
                <a:solidFill>
                  <a:srgbClr val="14201C"/>
                </a:solidFill>
                <a:latin typeface="Calibri"/>
              </a:rPr>
              <a:t>S6: dense vector + BM25 sparse를 같은 Milvus candidate retrieval로 통합</a:t>
            </a:r>
            <a:br/>
            <a:r>
              <a:rPr sz="1140">
                <a:solidFill>
                  <a:srgbClr val="14201C"/>
                </a:solidFill>
                <a:latin typeface="Calibri"/>
              </a:rPr>
              <a:t>RRFRanker / WeightedRanker는 동일 validation set에서 비교</a:t>
            </a:r>
            <a:br/>
            <a:r>
              <a:rPr sz="1140">
                <a:solidFill>
                  <a:srgbClr val="14201C"/>
                </a:solidFill>
                <a:latin typeface="Calibri"/>
              </a:rPr>
              <a:t>top1 score + top1/top2 margin + False Accept로 ACCEPT/ASK를 교정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40880" y="2788920"/>
            <a:ext cx="4572000" cy="3063240"/>
          </a:xfrm>
          <a:prstGeom prst="rect">
            <a:avLst/>
          </a:prstGeom>
          <a:solidFill>
            <a:srgbClr val="14201C"/>
          </a:solidFill>
          <a:ln w="12700">
            <a:solidFill>
              <a:srgbClr val="0A120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6F847D"/>
                </a:solidFill>
                <a:latin typeface="Courier New"/>
              </a:rPr>
              <a:t>PYTHON · S5 자모거리 / S6 Milvus hybrid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223760" y="3127248"/>
            <a:ext cx="4206240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sz="790">
                <a:solidFill>
                  <a:srgbClr val="D6E2DD"/>
                </a:solidFill>
                <a:latin typeface="Courier New"/>
              </a:rPr>
              <a:t># S5: 호환 자모 기반 편집 유사도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def to_jamo(s):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  return ''.join(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    jamo.j2hcj(jamo.h2j(c)) if '가'&lt;=c&lt;='힣' else c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    for c in s)</a:t>
            </a:r>
            <a:br/>
            <a:br/>
            <a:r>
              <a:rPr sz="790">
                <a:solidFill>
                  <a:srgbClr val="D6E2DD"/>
                </a:solidFill>
                <a:latin typeface="Courier New"/>
              </a:rPr>
              <a:t>def jamo_similarity(a,b):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  return DamerauLevenshtein.normalized_similarity(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    to_jamo(a), to_jamo(b))</a:t>
            </a:r>
            <a:br/>
            <a:br/>
            <a:r>
              <a:rPr sz="790">
                <a:solidFill>
                  <a:srgbClr val="D6E2DD"/>
                </a:solidFill>
                <a:latin typeface="Courier New"/>
              </a:rPr>
              <a:t># S6: Milvus dense + BM25 sparse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dense = AnnSearchRequest(..., anns_field='dense_vector')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bm25  = AnnSearchRequest(..., anns_field='sparse_vector')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hits = client.hybrid_search(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collection_name=COLLECTION, reqs=[dense,bm25],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  ranker=RRFRanker(), limit=10)</a:t>
            </a:r>
            <a:br/>
            <a:r>
              <a:rPr sz="790">
                <a:solidFill>
                  <a:srgbClr val="D6E2DD"/>
                </a:solidFill>
                <a:latin typeface="Courier New"/>
              </a:rPr>
              <a:t># ACCEPT/ASK gate는 validation set으로 보정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5879592"/>
            <a:ext cx="11064240" cy="502920"/>
          </a:xfrm>
          <a:prstGeom prst="roundRect">
            <a:avLst>
              <a:gd name="adj" fmla="val 7273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587959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sz="1120">
                <a:solidFill>
                  <a:srgbClr val="14201C"/>
                </a:solidFill>
                <a:latin typeface="Calibri"/>
              </a:rPr>
              <a:t>짧은 토큰은 false accept 위험이 특히 크다 — “0.90/0.84” 같은 수치를 고정하지 말고 실제 오타·음성 케이스 골든셋으로 길이별 임계값/S5 skip 정책을 교정한다.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S5·S6 상세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04·06 · 최종 판정과 근거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14201C"/>
                </a:solidFill>
                <a:latin typeface="Cambria"/>
              </a:rPr>
              <a:t>S7 LLM 판정 &amp; Provenance / Decision 분리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280">
                <a:solidFill>
                  <a:srgbClr val="3D4C46"/>
                </a:solidFill>
                <a:latin typeface="Calibri"/>
              </a:rPr>
              <a:t>S7은 후보 목록 안에서만 선택하게 강제한다(자유 생성 금지). 신뢰 모델은 ① resolution_stage / match_mode ② source_grade ③ decision(ACCEPT·ASK·REJECT)을 분리하고, 모델 점수는 보조 신호로만 기록한다.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3200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1828800"/>
                <a:gridCol w="429768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단계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match_mode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source_grade 기본값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기본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핵심 조건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0F6B62"/>
                          </a:solidFill>
                          <a:latin typeface="Calibri"/>
                        </a:rPr>
                        <a:t>EXACT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검수됨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ACCEPT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curated + scope 내 유일 후보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S3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0F6B62"/>
                          </a:solidFill>
                          <a:latin typeface="Calibri"/>
                        </a:rPr>
                        <a:t>APPROX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검수된 대상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ACCEPT / 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score·margin·중의성 검증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S4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A86A05"/>
                          </a:solidFill>
                          <a:latin typeface="Calibri"/>
                        </a:rPr>
                        <a:t>RULE_COMPOSE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자동수집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ASK / TENTATIVE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rule_id·분해토큰 + 검수큐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S5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A86A05"/>
                          </a:solidFill>
                          <a:latin typeface="Calibri"/>
                        </a:rPr>
                        <a:t>TYPO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자동수집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ASK / TENTATIVE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원문·교정후보·거리 기록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8C2F3B"/>
                          </a:solidFill>
                          <a:latin typeface="Calibri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관련추정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top-K·score·margin·retrieval 버전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3D4C46"/>
                          </a:solidFill>
                          <a:latin typeface="Courier New"/>
                        </a:rPr>
                        <a:t>S7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 b="1">
                          <a:solidFill>
                            <a:srgbClr val="8C2F3B"/>
                          </a:solidFill>
                          <a:latin typeface="Calibri"/>
                        </a:rPr>
                        <a:t>LLM_SELECT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3D4C46"/>
                          </a:solidFill>
                          <a:latin typeface="Courier New"/>
                        </a:rPr>
                        <a:t>관련추정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ASK /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50">
                          <a:solidFill>
                            <a:srgbClr val="14201C"/>
                          </a:solidFill>
                          <a:latin typeface="Calibri"/>
                        </a:rPr>
                        <a:t>후보집합·model·prompt 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4681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r>
              <a:rPr sz="1120" b="1">
                <a:solidFill>
                  <a:srgbClr val="8C2F3B"/>
                </a:solidFill>
                <a:latin typeface="Calibri"/>
              </a:rPr>
              <a:t>등급 세탁 금지 — S4~S7의 미검수 결과를 curated :Alias 조회 경로에 넣으면 오탐이 다음 질의에서 S2 exact hit로 되돌아온다. 미검수 결과는 staging에만 적재하고 SME 승인 후 승격한다.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850">
                <a:solidFill>
                  <a:srgbClr val="6B7A73"/>
                </a:solidFill>
                <a:latin typeface="Courier New"/>
              </a:rPr>
              <a:t>S7 · provenance / decision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05 · 저장소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저장소·검색엔진 조합 비교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0632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3291840"/>
                <a:gridCol w="3017520"/>
                <a:gridCol w="1463040"/>
              </a:tblGrid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담당 단계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장점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제약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30" b="1">
                          <a:solidFill>
                            <a:srgbClr val="FFFFFF"/>
                          </a:solidFill>
                          <a:latin typeface="Calibri"/>
                        </a:rPr>
                        <a:t>권고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 b="1">
                          <a:solidFill>
                            <a:srgbClr val="0F6B62"/>
                          </a:solidFill>
                          <a:latin typeface="Calibri"/>
                        </a:rPr>
                        <a:t>Neo4j 단독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S2 range/dict · S3 fulltext · S6 vector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그래프 일원화, 해석→멀티홉 탐색 직결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한글 analyzer 제한; vector는 실제 벤치마크 필요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중소규모 1순위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 b="1">
                          <a:solidFill>
                            <a:srgbClr val="0F6B62"/>
                          </a:solidFill>
                          <a:latin typeface="Calibri"/>
                        </a:rPr>
                        <a:t>Neo4j+Milvus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S2·S3 / S6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Milvus dense+sparse hybrid 재사용, 관심사 분리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Term 삭제·병합 시 ID 동기화/고아 벡터 관리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현 스택 실질 채택안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 b="1">
                          <a:solidFill>
                            <a:srgbClr val="0F6B62"/>
                          </a:solidFill>
                          <a:latin typeface="Calibri"/>
                        </a:rPr>
                        <a:t>+Elasticsearch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S3 / 문서 전문검색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nori 분석기, 성숙한 랭킹 튜닝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세 번째 저장소 운영비; 자체 부하로 판단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별도 전문검색 요구시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 b="1">
                          <a:solidFill>
                            <a:srgbClr val="0F6B62"/>
                          </a:solidFill>
                          <a:latin typeface="Calibri"/>
                        </a:rPr>
                        <a:t>RDB+인메모리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S2~S5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Oracle 원천 원칙과 정합, 재현성 높음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S6는 외부 검색 계층 필요; 프로세스 수에 따라 메모리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080">
                          <a:solidFill>
                            <a:srgbClr val="14201C"/>
                          </a:solidFill>
                          <a:latin typeface="Calibri"/>
                        </a:rPr>
                        <a:t>PoC · 게이트① 측정용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54880"/>
            <a:ext cx="11064240" cy="777240"/>
          </a:xfrm>
          <a:prstGeom prst="roundRect">
            <a:avLst>
              <a:gd name="adj" fmla="val 4706"/>
            </a:avLst>
          </a:prstGeom>
          <a:solidFill>
            <a:srgbClr val="D7E8E4"/>
          </a:solidFill>
          <a:ln w="9525">
            <a:solidFill>
              <a:srgbClr val="0F6B6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78231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권고 — </a:t>
            </a:r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도입 게이트(① 언급매칭 연결률 측정 → ② 부족시 Milvus → ③ 그래도 부족시 LLM추출)를 저장소 선택에도 동일 적용. 처음부터 3층을 다 세우면 어느 층이 성능을 만드는지 측정할 수 없다.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5806440"/>
            <a:ext cx="164592" cy="164592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결정적·저비용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651760" y="5806440"/>
            <a:ext cx="164592" cy="164592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0" name="Text 7"/>
          <p:cNvSpPr/>
          <p:nvPr/>
        </p:nvSpPr>
        <p:spPr>
          <a:xfrm>
            <a:off x="288036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확률적·중간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5806440"/>
            <a:ext cx="164592" cy="164592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5760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비결정적·고비용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저장소 비교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07 · 런타임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2-레인 구조: 질의시점 · 배치시점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60">
                <a:solidFill>
                  <a:srgbClr val="3D4C46"/>
                </a:solidFill>
                <a:latin typeface="Calibri"/>
              </a:rPr>
              <a:t>S7(LLM)을 동기 응답 경로에서 분리하면 런타임 지연과 비용을 규칙·검색 단계 중심으로 통제할 수 있다. 두 레인의 접점은 검수된(curated) 사전 하나뿐이다.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1737360"/>
          </a:xfrm>
          <a:prstGeom prst="rect">
            <a:avLst/>
          </a:prstGeom>
          <a:solidFill>
            <a:srgbClr val="D7E8E4"/>
          </a:solidFill>
          <a:ln w="12700">
            <a:solidFill>
              <a:srgbClr val="0F6B6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F6B62"/>
                </a:solidFill>
                <a:latin typeface="Courier New"/>
              </a:rPr>
              <a:t>LANE A · 질의시점 (동기 · 제품 SLO 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6276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질의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68296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2423160"/>
            <a:ext cx="162763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정규화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23944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3" name="Shape 11"/>
          <p:cNvSpPr/>
          <p:nvPr/>
        </p:nvSpPr>
        <p:spPr>
          <a:xfrm>
            <a:off x="4242816" y="2423160"/>
            <a:ext cx="1627632" cy="777240"/>
          </a:xfrm>
          <a:prstGeom prst="rect">
            <a:avLst/>
          </a:prstGeom>
          <a:solidFill>
            <a:srgbClr val="D7E8E4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88536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S2·S3 사전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79592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98464" y="2423160"/>
            <a:ext cx="1627632" cy="777240"/>
          </a:xfrm>
          <a:prstGeom prst="rect">
            <a:avLst/>
          </a:prstGeom>
          <a:solidFill>
            <a:srgbClr val="F5E7CC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44184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S4·S5 규칙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54112" y="2423160"/>
            <a:ext cx="1627632" cy="777240"/>
          </a:xfrm>
          <a:prstGeom prst="rect">
            <a:avLst/>
          </a:prstGeom>
          <a:solidFill>
            <a:srgbClr val="F2DCDE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하이브리드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390888" y="27614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2" name="Shape 20"/>
          <p:cNvSpPr/>
          <p:nvPr/>
        </p:nvSpPr>
        <p:spPr>
          <a:xfrm>
            <a:off x="9509760" y="2423160"/>
            <a:ext cx="1627632" cy="777240"/>
          </a:xfrm>
          <a:prstGeom prst="rect">
            <a:avLst/>
          </a:prstGeom>
          <a:solidFill>
            <a:srgbClr val="14201C"/>
          </a:solidFill>
          <a:ln w="9525">
            <a:solidFill>
              <a:srgbClr val="142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423160"/>
            <a:ext cx="1536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50" b="1">
                <a:solidFill>
                  <a:srgbClr val="FFFFFF"/>
                </a:solidFill>
                <a:latin typeface="Calibri"/>
              </a:rPr>
              <a:t>응답+provenance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" y="33101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3D4C46"/>
                </a:solidFill>
                <a:latin typeface="Courier New"/>
              </a:rPr>
              <a:t>S7(LLM)은 기본적으로 이 레인에 없다 — 미해결이면 후보와 decision=ASK를 반환하고 즉시 응답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977640"/>
            <a:ext cx="11064240" cy="1737360"/>
          </a:xfrm>
          <a:prstGeom prst="rect">
            <a:avLst/>
          </a:prstGeom>
          <a:solidFill>
            <a:srgbClr val="F5E7CC"/>
          </a:solidFill>
          <a:ln w="12700">
            <a:solidFill>
              <a:srgbClr val="A86A05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31520" y="4087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LANE B · 배치시점 (비동기 · 야간)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질의수집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06624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0" name="Shape 28"/>
          <p:cNvSpPr/>
          <p:nvPr/>
        </p:nvSpPr>
        <p:spPr>
          <a:xfrm>
            <a:off x="2825496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71216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LLM추출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3" name="Shape 31"/>
          <p:cNvSpPr/>
          <p:nvPr/>
        </p:nvSpPr>
        <p:spPr>
          <a:xfrm>
            <a:off x="4919472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문서청크 추출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894576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6" name="Shape 34"/>
          <p:cNvSpPr/>
          <p:nvPr/>
        </p:nvSpPr>
        <p:spPr>
          <a:xfrm>
            <a:off x="7013448" y="4480560"/>
            <a:ext cx="1965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3D4C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적재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988552" y="4818888"/>
            <a:ext cx="109728" cy="109728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9" name="Shape 37"/>
          <p:cNvSpPr/>
          <p:nvPr/>
        </p:nvSpPr>
        <p:spPr>
          <a:xfrm>
            <a:off x="9107424" y="4480560"/>
            <a:ext cx="1965960" cy="777240"/>
          </a:xfrm>
          <a:prstGeom prst="rect">
            <a:avLst/>
          </a:prstGeom>
          <a:solidFill>
            <a:srgbClr val="E1DDF0"/>
          </a:solidFill>
          <a:ln w="9525">
            <a:solidFill>
              <a:srgbClr val="4A3E7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53144" y="448056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검수·승격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 flipH="1">
            <a:off x="9692640" y="3429000"/>
            <a:ext cx="1280160" cy="502920"/>
          </a:xfrm>
          <a:prstGeom prst="bentArrow">
            <a:avLst/>
          </a:prstGeom>
          <a:ln w="19050">
            <a:solidFill>
              <a:srgbClr val="0F6B6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0F6B62"/>
                </a:solidFill>
                <a:latin typeface="Courier New"/>
              </a:rPr>
              <a:t>응답 계약: resolution_stage · match_mode · source_grade · decision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50">
                <a:solidFill>
                  <a:srgbClr val="3D4C46"/>
                </a:solidFill>
                <a:latin typeface="Calibri"/>
              </a:rPr>
              <a:t>decision=ACCEPT|ASK|REJECT — 배치 장애 시에도 LANE A는 이전 curated 사전으로 계속 서비스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2-레인 아키텍처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08 · 연계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llm-wiki 산출물 분담 · graphify 위치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035040" cy="237744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  <a:gridCol w="1280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산출물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담는 것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갱신 주체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concepts/&lt;term&gt;.md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표준 용어 정의·문맥·프레임 서술 (정본)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entities/&lt;table&gt;.md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테이블·컬럼·코드값 카드 (소스 결정적 생성)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배치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Neo4j :Alias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기계가 조회하는 별칭 인덱스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캐스케이드+SME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0F6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explorations/</a:t>
                      </a:r>
                      <a:endParaRPr lang="en-US" sz="108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미해결 현장어 조사 메모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4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SME(임시)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77640"/>
            <a:ext cx="6035040" cy="914400"/>
          </a:xfrm>
          <a:prstGeom prst="roundRect">
            <a:avLst>
              <a:gd name="adj" fmla="val 4000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00507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진실 원천 —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Neo4j가 원천, 마크다운은 렌더링 산출물. 방향을 하나로 고정하지 않으면 양방향 편집 시 즉시 불일치가 발생한다.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858000" y="1463040"/>
            <a:ext cx="4754880" cy="3429000"/>
          </a:xfrm>
          <a:prstGeom prst="rect">
            <a:avLst/>
          </a:prstGeom>
          <a:solidFill>
            <a:srgbClr val="E1DDF0"/>
          </a:solidFill>
          <a:ln w="12700">
            <a:solidFill>
              <a:srgbClr val="4A3E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16276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— PyPI: graphifyy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086600" y="1965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sz="1150">
                <a:solidFill>
                  <a:srgbClr val="3D4C46"/>
                </a:solidFill>
                <a:latin typeface="Calibri"/>
              </a:rPr>
              <a:t>코드 파일은 tree-sitter 기반 로컬·결정적 AST 파싱이 가능하다. 문서·PDF·이미지의 semantic extraction은 설정한 AI backend를 사용할 수 있으므로 데이터 경계를 별도로 검토한다.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086600" y="2606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50" b="1">
                <a:solidFill>
                  <a:srgbClr val="4A3E7A"/>
                </a:solidFill>
                <a:latin typeface="Courier New"/>
              </a:rPr>
              <a:t>LAYER 3 수확 (코드 AST)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86600" y="28529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sz="1050">
                <a:solidFill>
                  <a:srgbClr val="14201C"/>
                </a:solidFill>
                <a:latin typeface="Calibri"/>
              </a:rPr>
              <a:t>함수·클래스·참조 등 심볼은 로컬 추출; 문서/미디어는 backend 경계 확인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086600" y="3300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--wiki 모드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086600" y="35478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위키피디아 스타일 MD + index.md 자동 생성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086600" y="39959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3E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--mcp 서버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086600" y="4242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query_graph, shortest_path 등 에이전트 직접 호출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llm-wiki · graphify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09 · 평가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14201C"/>
                </a:solidFill>
                <a:latin typeface="Cambria"/>
              </a:rPr>
              <a:t>핵심 지표 · 골든셋 · 임계값 교정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400800" cy="246888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지표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정의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운영 해석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0F6B62"/>
                          </a:solidFill>
                          <a:latin typeface="Calibri"/>
                        </a:rPr>
                        <a:t>End-to-end 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ACCEPT 결과 중 실제 정답 비율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가장 우선 — 단계별로 분리 측정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0F6B62"/>
                          </a:solidFill>
                          <a:latin typeface="Calibri"/>
                        </a:rPr>
                        <a:t>False Accept 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오답인데 ACCEPT된 비율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가능한 낮게 — ASK/REJECT보다 위험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0F6B62"/>
                          </a:solidFill>
                          <a:latin typeface="Calibri"/>
                        </a:rPr>
                        <a:t>Candidate Recall@K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S3~S6 top-K 안에 정답 포함 비율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후보 생성과 최종 판정을 분리 진단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 b="1">
                          <a:solidFill>
                            <a:srgbClr val="0F6B62"/>
                          </a:solidFill>
                          <a:latin typeface="Calibri"/>
                        </a:rPr>
                        <a:t>등급 세탁률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미검수 결과의 curated 유입 건수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sz="1150">
                          <a:solidFill>
                            <a:srgbClr val="14201C"/>
                          </a:solidFill>
                          <a:latin typeface="Calibri"/>
                        </a:rPr>
                        <a:t>0이어야 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223760" y="1508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500" b="1">
                <a:solidFill>
                  <a:srgbClr val="14201C"/>
                </a:solidFill>
                <a:latin typeface="Cambria"/>
              </a:rPr>
              <a:t>골든셋 ≈200건 · 부트스트랩 예시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237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정확일치(S2)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098280" y="199339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8" name="Shape 5"/>
          <p:cNvSpPr/>
          <p:nvPr/>
        </p:nvSpPr>
        <p:spPr>
          <a:xfrm>
            <a:off x="9098280" y="1993392"/>
            <a:ext cx="2560320" cy="201168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9" name="Text 6"/>
          <p:cNvSpPr/>
          <p:nvPr/>
        </p:nvSpPr>
        <p:spPr>
          <a:xfrm>
            <a:off x="116586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22376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부분변형(S3)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098280" y="235915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12" name="Shape 9"/>
          <p:cNvSpPr/>
          <p:nvPr/>
        </p:nvSpPr>
        <p:spPr>
          <a:xfrm>
            <a:off x="9098280" y="2359152"/>
            <a:ext cx="2560320" cy="201168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3" name="Text 10"/>
          <p:cNvSpPr/>
          <p:nvPr/>
        </p:nvSpPr>
        <p:spPr>
          <a:xfrm>
            <a:off x="116586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223760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복합현장어(S4)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098280" y="272491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16" name="Shape 13"/>
          <p:cNvSpPr/>
          <p:nvPr/>
        </p:nvSpPr>
        <p:spPr>
          <a:xfrm>
            <a:off x="9098280" y="2724912"/>
            <a:ext cx="2560320" cy="201168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7" name="Text 14"/>
          <p:cNvSpPr/>
          <p:nvPr/>
        </p:nvSpPr>
        <p:spPr>
          <a:xfrm>
            <a:off x="11658600" y="2697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22376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실오타(S5)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98280" y="309067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0" name="Shape 17"/>
          <p:cNvSpPr/>
          <p:nvPr/>
        </p:nvSpPr>
        <p:spPr>
          <a:xfrm>
            <a:off x="9098280" y="3090672"/>
            <a:ext cx="2560320" cy="201168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1" name="Text 18"/>
          <p:cNvSpPr/>
          <p:nvPr/>
        </p:nvSpPr>
        <p:spPr>
          <a:xfrm>
            <a:off x="116586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223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서술질의(S6)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9098280" y="345643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4" name="Shape 21"/>
          <p:cNvSpPr/>
          <p:nvPr/>
        </p:nvSpPr>
        <p:spPr>
          <a:xfrm>
            <a:off x="9098280" y="3456432"/>
            <a:ext cx="1280160" cy="201168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25" name="Text 22"/>
          <p:cNvSpPr/>
          <p:nvPr/>
        </p:nvSpPr>
        <p:spPr>
          <a:xfrm>
            <a:off x="1165860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22376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해석거부(음성)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9098280" y="3822192"/>
            <a:ext cx="2560320" cy="201168"/>
          </a:xfrm>
          <a:prstGeom prst="rect">
            <a:avLst/>
          </a:prstGeom>
          <a:solidFill>
            <a:srgbClr val="E4E9E0"/>
          </a:solidFill>
          <a:ln/>
        </p:spPr>
      </p:sp>
      <p:sp>
        <p:nvSpPr>
          <p:cNvPr id="28" name="Shape 25"/>
          <p:cNvSpPr/>
          <p:nvPr/>
        </p:nvSpPr>
        <p:spPr>
          <a:xfrm>
            <a:off x="9098280" y="3822192"/>
            <a:ext cx="1280160" cy="201168"/>
          </a:xfrm>
          <a:prstGeom prst="rect">
            <a:avLst/>
          </a:prstGeom>
          <a:solidFill>
            <a:srgbClr val="3D4C46"/>
          </a:solidFill>
          <a:ln/>
        </p:spPr>
      </p:sp>
      <p:sp>
        <p:nvSpPr>
          <p:cNvPr id="29" name="Text 26"/>
          <p:cNvSpPr/>
          <p:nvPr/>
        </p:nvSpPr>
        <p:spPr>
          <a:xfrm>
            <a:off x="11658600" y="3794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4C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223760" y="4206240"/>
            <a:ext cx="4389120" cy="1691640"/>
          </a:xfrm>
          <a:prstGeom prst="roundRect">
            <a:avLst>
              <a:gd name="adj" fmla="val 2162"/>
            </a:avLst>
          </a:prstGeom>
          <a:solidFill>
            <a:srgbClr val="F2DCDE"/>
          </a:solidFill>
          <a:ln w="9525">
            <a:solidFill>
              <a:srgbClr val="8C2F3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52360" y="4297680"/>
            <a:ext cx="39319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2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케이스가 없으면 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커버리지만 보고 θ를 계속 낮추게 되고, 어느 순간 시스템이 모든 것을 아무것에나 매핑하기 시작한다 — 캐스케이드형 시스템의 전형적 붕괴 경로.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48640" y="4206240"/>
            <a:ext cx="6400800" cy="1691640"/>
          </a:xfrm>
          <a:prstGeom prst="roundRect">
            <a:avLst>
              <a:gd name="adj" fmla="val 2162"/>
            </a:avLst>
          </a:prstGeom>
          <a:solidFill>
            <a:srgbClr val="D7E8E4"/>
          </a:solidFill>
          <a:ln w="9525">
            <a:solidFill>
              <a:srgbClr val="0F6B6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4297680"/>
            <a:ext cx="5943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pPr indent="0" marL="0">
              <a:lnSpc>
                <a:spcPct val="122000"/>
              </a:lnSpc>
              <a:buNone/>
            </a:pPr>
            <a:r>
              <a:rPr sz="1080" b="1">
                <a:solidFill>
                  <a:srgbClr val="0F6B62"/>
                </a:solidFill>
                <a:latin typeface="Calibri"/>
              </a:rPr>
              <a:t>운영 원칙 — 200건은 부트스트랩 예시일 뿐 통계적 충분성을 보장하지 않는다. coverage보다 False Accept를 우선하며, S2 exact 비율·검수 처리율·P95/P99 지연은 추세/SLO로 관리한다. RRF/WeightedRanker는 같은 validation set에서 Recall@K·FAR·margin·latency로 비교한다.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평가 지표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로드맵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도입 로드맵 — G0 ~ G3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G0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CSV→그래프 적재, S1·S2만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스키마, 정규화, 별칭300건, 골든셋200건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종결률 측정 — 이후 판단의 기준선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954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554480"/>
            <a:ext cx="2651760" cy="50292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G1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3756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0215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S3·S4·S5 추가, 검수 UI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0215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0215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퍼지매칭, 어근사전, 자모거리, staging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0215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215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0215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커버리지 85% 이상이면 여기서 멈춤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9846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G2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3주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12648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9107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하이브리드 (Milvus)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9107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9107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 파이프라인, RRF, 마진게이트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9107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9107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6A0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9107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정밀도 80% 미만이면 사전반영 금지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787384" y="3657600"/>
            <a:ext cx="118872" cy="182880"/>
          </a:xfrm>
          <a:prstGeom prst="rightArrow">
            <a:avLst/>
          </a:prstGeom>
          <a:solidFill>
            <a:srgbClr val="3D4C46"/>
          </a:solidFill>
          <a:ln/>
        </p:spPr>
      </p:sp>
      <p:sp>
        <p:nvSpPr>
          <p:cNvPr id="37" name="Shape 35"/>
          <p:cNvSpPr/>
          <p:nvPr/>
        </p:nvSpPr>
        <p:spPr>
          <a:xfrm>
            <a:off x="8915400" y="1554480"/>
            <a:ext cx="2651760" cy="50292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38" name="Text 36"/>
          <p:cNvSpPr/>
          <p:nvPr/>
        </p:nvSpPr>
        <p:spPr>
          <a:xfrm>
            <a:off x="89154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G3  </a:t>
            </a:r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4주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8915400" y="2121408"/>
            <a:ext cx="26517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79992" y="224942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범위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79992" y="247802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배치 레인, llm-wiki 렌더링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79992" y="3072384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산출물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079992" y="3300984"/>
            <a:ext cx="23225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D4C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LLM추출 배치, concepts/*.md 자동생성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79992" y="4279392"/>
            <a:ext cx="2322576" cy="0"/>
          </a:xfrm>
          <a:prstGeom prst="line">
            <a:avLst/>
          </a:prstGeom>
          <a:noFill/>
          <a:ln w="6350">
            <a:solidFill>
              <a:srgbClr val="C7D0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79992" y="4379976"/>
            <a:ext cx="2322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C2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진행 기준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79992" y="4599432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처리량 ≥1.0 유지 가능 여부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6667"/>
            </a:avLst>
          </a:prstGeom>
          <a:solidFill>
            <a:srgbClr val="F5E7CC"/>
          </a:solidFill>
          <a:ln w="9525">
            <a:solidFill>
              <a:srgbClr val="A86A0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82472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sz="1120" b="1">
                <a:solidFill>
                  <a:srgbClr val="A86A05"/>
                </a:solidFill>
                <a:latin typeface="Calibri"/>
              </a:rPr>
              <a:t>G1에서 멈출 용기 — 단계별 게이트 수치는 초기 가설이다. 규칙 단계에서 충분한 precision/coverage를 달성했다면 S6·S7 확장은 실제 개선폭과 운영비를 측정한 뒤 결정한다.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로드맵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10 · 리스크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주요 리스크와 대응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73152" cy="123444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등급 세탁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928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000">
                <a:solidFill>
                  <a:srgbClr val="6B7A73"/>
                </a:solidFill>
                <a:latin typeface="Calibri"/>
              </a:rPr>
              <a:t>징후: S4~S7 미검수 결과가 curated 사전에 유입돼 며칠 뒤 S2 exact로 재등장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000" b="1">
                <a:solidFill>
                  <a:srgbClr val="14201C"/>
                </a:solidFill>
                <a:latin typeface="Calibri"/>
              </a:rPr>
              <a:t>대응: staging/curated 물리 분리, 등급 세탁률 0 모니터링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73152" cy="123444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 병목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89280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큐 길이가 주 단위로 단조 증가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29514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“2회 이상 등장” 진입조건, 빈도순 정렬 UI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73152" cy="1234440"/>
          </a:xfrm>
          <a:prstGeom prst="rect">
            <a:avLst/>
          </a:prstGeom>
          <a:solidFill>
            <a:srgbClr val="8C2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표류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커버리지를 올리려 θ를 반복 하향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712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sz="1000" b="1">
                <a:solidFill>
                  <a:srgbClr val="14201C"/>
                </a:solidFill>
                <a:latin typeface="Calibri"/>
              </a:rPr>
              <a:t>대응: hard negative 포함 골든셋 CI 회귀, False Accept 증가 시 배포 차단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63640" y="292608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A86A05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01752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중의성 폭발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3101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같은 현장어가 공정별로 다른 용어를 지칭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71246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scope 필드를 초기부터 반영 (사후 추가는 전량 재검수)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343400"/>
            <a:ext cx="73152" cy="123444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434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사전 노후화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47274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폐기된 용어의 별칭이 계속 매칭됨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1297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valid_until 운영, 패치이력 연동 자동만료 탐지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343400"/>
            <a:ext cx="5349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4343400"/>
            <a:ext cx="73152" cy="1234440"/>
          </a:xfrm>
          <a:prstGeom prst="rect">
            <a:avLst/>
          </a:prstGeom>
          <a:solidFill>
            <a:srgbClr val="0F6B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44348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동기화 부채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92240" y="472744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징후: Neo4j Term 삭제 후 Milvus 벡터 잔존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5129784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대응: 변경이벤트→재적재 잡, 주간 정합성 리포트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100" kern="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리스크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A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463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추론은 1→2에만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3400" y="1463040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식별자 연결은 결정적 조인으로 남긴다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214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212140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stage · grade · decision 분리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2121408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sz="1220">
                <a:solidFill>
                  <a:srgbClr val="C7D6CF"/>
                </a:solidFill>
                <a:latin typeface="Calibri"/>
              </a:rPr>
              <a:t>해석 경로, 원천 검수등급, 에이전트 행동을 분리해 오확정과 등급 세탁을 막는다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27797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실패의 자산화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2779776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미해결 질의는 스테이징되어 사전을 스스로 키운다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343814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게이트는 측정으로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3438144"/>
            <a:ext cx="7132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sz="1220">
                <a:solidFill>
                  <a:srgbClr val="C7D6CF"/>
                </a:solidFill>
                <a:latin typeface="Calibri"/>
              </a:rPr>
              <a:t>고정 임계값보다 자체 골든셋의 Precision·FAR·Recall@K·지연으로 확장 여부를 판단한다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79392"/>
            <a:ext cx="11064240" cy="0"/>
          </a:xfrm>
          <a:prstGeom prst="line">
            <a:avLst/>
          </a:prstGeom>
          <a:noFill/>
          <a:ln w="9525">
            <a:solidFill>
              <a:srgbClr val="354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FD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주요 출처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–"/>
            </a:pPr>
            <a:r>
              <a:rPr sz="950">
                <a:solidFill>
                  <a:srgbClr val="9FB3AB"/>
                </a:solidFill>
                <a:latin typeface="Calibri"/>
              </a:rPr>
              <a:t>Alam et al. (2022) Neural Entity Linking: A Survey — Semantic Web Journal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W3C SKOS Simple Knowledge Organization System Reference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Neo4j Cypher Manual — Range / TEXT / Full-text / Vector indexes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Milvus Documentation — Full-text Search / Hybrid Search / RRFRanker·WeightedRanker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kiwipiepy API Documentation — 0.23+ typo transformer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Graphify-Labs/graphify (GitHub) · PyPI graphifyy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Huang (2024) Disambiguate Entity Matching using LLMs — GUIDE-AI</a:t>
            </a:r>
            <a:br/>
            <a:r>
              <a:rPr sz="950">
                <a:solidFill>
                  <a:srgbClr val="9FB3AB"/>
                </a:solidFill>
                <a:latin typeface="Calibri"/>
              </a:rPr>
              <a:t>내부: 03-extraction-staging-architecture.html / 01-wiki-structure-guide-v2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00">
                <a:solidFill>
                  <a:srgbClr val="5E706A"/>
                </a:solidFill>
                <a:latin typeface="Courier New"/>
              </a:rPr>
              <a:t>현장어 해석 파이프라인 설계·구현 가이드 · MES-DevKG · 검토개정 2026-08-19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현장어 해석 파이프라인 설계·구현 가이드 — 검토수정본</dc:title>
  <dc:subject>MES-DevKG 현장어 해석 7단 캐스케이드 및 provenance 분리 반영</dc:subject>
  <dc:creator>PptxGenJS</dc:creator>
  <cp:lastModifiedBy>PptxGenJS</cp:lastModifiedBy>
  <cp:revision>1</cp:revision>
  <dcterms:created xsi:type="dcterms:W3CDTF">2026-08-19T06:23:29Z</dcterms:created>
  <dcterms:modified xsi:type="dcterms:W3CDTF">2026-08-19T06:23:29Z</dcterms:modified>
  <dc:description>2026-08-19 HTML 검토수정본의 핵심 변경사항 반영</dc:description>
</cp:coreProperties>
</file>