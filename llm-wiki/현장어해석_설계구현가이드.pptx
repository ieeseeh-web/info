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8FD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MES-DevKG  ·  용어사전 서비스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874520"/>
            <a:ext cx="10241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현장어 해석 파이프라인
</a:t>
            </a:r>
            <a:pPr indent="0" marL="0">
              <a:lnSpc>
                <a:spcPct val="108000"/>
              </a:lnSpc>
              <a:buNone/>
            </a:pPr>
            <a:r>
              <a:rPr lang="en-US" sz="4600" b="1" dirty="0">
                <a:solidFill>
                  <a:srgbClr val="8FD6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설계 · 구현 가이드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397764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7D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정규화 → 별칭사전 → 어근조합 → 오타보정 → 의미폴백 → LLM판정으로 이어지는 6단 캐스케이드를 Neo4j / Milvus / Kiwi / graphify 레벨까지 내려 설계한다.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5257800"/>
            <a:ext cx="2121408" cy="329184"/>
          </a:xfrm>
          <a:prstGeom prst="roundRect">
            <a:avLst>
              <a:gd name="adj" fmla="val 11111"/>
            </a:avLst>
          </a:prstGeom>
          <a:solidFill>
            <a:srgbClr val="1D2B25"/>
          </a:solidFill>
          <a:ln w="9525">
            <a:solidFill>
              <a:srgbClr val="3547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5257800"/>
            <a:ext cx="212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대상 · 반도체 MES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108960" y="5257800"/>
            <a:ext cx="4023360" cy="329184"/>
          </a:xfrm>
          <a:prstGeom prst="roundRect">
            <a:avLst>
              <a:gd name="adj" fmla="val 11111"/>
            </a:avLst>
          </a:prstGeom>
          <a:solidFill>
            <a:srgbClr val="1D2B25"/>
          </a:solidFill>
          <a:ln w="9525">
            <a:solidFill>
              <a:srgbClr val="3547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08960" y="525780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스택 · Neo4j + Milvus + GLM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296912" y="5257800"/>
            <a:ext cx="3291840" cy="329184"/>
          </a:xfrm>
          <a:prstGeom prst="roundRect">
            <a:avLst>
              <a:gd name="adj" fmla="val 11111"/>
            </a:avLst>
          </a:prstGeom>
          <a:solidFill>
            <a:srgbClr val="1D2B25"/>
          </a:solidFill>
          <a:ln w="9525">
            <a:solidFill>
              <a:srgbClr val="3547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96912" y="525780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근거등급 · 검수됨/자동수집/관련추정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22960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0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2026-08 · 내부 배포용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F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OVERVIEW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목차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85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80160" y="1600200"/>
            <a:ext cx="4526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정의와 3계층 매핑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295144"/>
            <a:ext cx="5257800" cy="0"/>
          </a:xfrm>
          <a:prstGeom prst="line">
            <a:avLst/>
          </a:prstGeom>
          <a:noFill/>
          <a:ln w="9525">
            <a:solidFill>
              <a:srgbClr val="C7D0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386584"/>
            <a:ext cx="685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80160" y="2386584"/>
            <a:ext cx="4526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모델 — 프레임 구조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081528"/>
            <a:ext cx="5257800" cy="0"/>
          </a:xfrm>
          <a:prstGeom prst="line">
            <a:avLst/>
          </a:prstGeom>
          <a:noFill/>
          <a:ln w="9525">
            <a:solidFill>
              <a:srgbClr val="C7D0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172968"/>
            <a:ext cx="685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80160" y="3172968"/>
            <a:ext cx="4526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별칭 사전과 SKOS 매핑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867912"/>
            <a:ext cx="5257800" cy="0"/>
          </a:xfrm>
          <a:prstGeom prst="line">
            <a:avLst/>
          </a:prstGeom>
          <a:noFill/>
          <a:ln w="9525">
            <a:solidFill>
              <a:srgbClr val="C7D0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959352"/>
            <a:ext cx="685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86A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80160" y="3959352"/>
            <a:ext cx="4526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6단 캐스케이드 상세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4654296"/>
            <a:ext cx="5257800" cy="0"/>
          </a:xfrm>
          <a:prstGeom prst="line">
            <a:avLst/>
          </a:prstGeom>
          <a:noFill/>
          <a:ln w="9525">
            <a:solidFill>
              <a:srgbClr val="C7D0C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745736"/>
            <a:ext cx="685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86A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280160" y="4745736"/>
            <a:ext cx="4526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저장소·검색엔진 비교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63640" y="1600200"/>
            <a:ext cx="685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C2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995160" y="1600200"/>
            <a:ext cx="4526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근거(Provenance) 설계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63640" y="2295144"/>
            <a:ext cx="5257800" cy="0"/>
          </a:xfrm>
          <a:prstGeom prst="line">
            <a:avLst/>
          </a:prstGeom>
          <a:noFill/>
          <a:ln w="9525">
            <a:solidFill>
              <a:srgbClr val="C7D0C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2386584"/>
            <a:ext cx="685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C2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995160" y="2386584"/>
            <a:ext cx="4526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2-레인 런타임 아키텍처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63640" y="3081528"/>
            <a:ext cx="5257800" cy="0"/>
          </a:xfrm>
          <a:prstGeom prst="line">
            <a:avLst/>
          </a:prstGeom>
          <a:noFill/>
          <a:ln w="9525">
            <a:solidFill>
              <a:srgbClr val="C7D0C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63640" y="3172968"/>
            <a:ext cx="685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3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995160" y="3172968"/>
            <a:ext cx="4526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llm-wiki · graphify 연계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263640" y="3867912"/>
            <a:ext cx="5257800" cy="0"/>
          </a:xfrm>
          <a:prstGeom prst="line">
            <a:avLst/>
          </a:prstGeom>
          <a:noFill/>
          <a:ln w="9525">
            <a:solidFill>
              <a:srgbClr val="C7D0C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3640" y="3959352"/>
            <a:ext cx="685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3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995160" y="3959352"/>
            <a:ext cx="4526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 지표와 골든셋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63640" y="4654296"/>
            <a:ext cx="5257800" cy="0"/>
          </a:xfrm>
          <a:prstGeom prst="line">
            <a:avLst/>
          </a:prstGeom>
          <a:noFill/>
          <a:ln w="9525">
            <a:solidFill>
              <a:srgbClr val="C7D0C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3640" y="4745736"/>
            <a:ext cx="685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4C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995160" y="4745736"/>
            <a:ext cx="4526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도입 로드맵과 리스크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6B7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MES-DevKG · 현장어 해석 가이드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F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01 · 문제 정의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현장어 해석은 엔터티 링킹 문제다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D4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“랏홀드”는 문자열 치환이 아니라, 3계층 사이의 매핑이다. 캐스케이드가 담당하는 구간은 Layer 1 → 2 뿐이며, Layer 2 → 3은 이미 구축된 결정적 그래프를 조인한다.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3429000" cy="3246120"/>
          </a:xfrm>
          <a:prstGeom prst="rect">
            <a:avLst/>
          </a:prstGeom>
          <a:solidFill>
            <a:srgbClr val="F5E7CC"/>
          </a:solidFill>
          <a:ln w="12700">
            <a:solidFill>
              <a:srgbClr val="A86A0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44144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86A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 1 · 현장어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9260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“랏홀드”, “홀드 걸렸다”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349300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“챔버 다운”, “CH 죽었다”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77240" y="4059936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“예약 다운”, “엔드런”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77240" y="4983480"/>
            <a:ext cx="2971800" cy="0"/>
          </a:xfrm>
          <a:prstGeom prst="line">
            <a:avLst/>
          </a:prstGeom>
          <a:noFill/>
          <a:ln w="6350">
            <a:solidFill>
              <a:srgbClr val="A86A05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777240" y="510235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6A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skos:altLabel / hiddenLabel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297680" y="2240280"/>
            <a:ext cx="3429000" cy="3246120"/>
          </a:xfrm>
          <a:prstGeom prst="rect">
            <a:avLst/>
          </a:prstGeom>
          <a:solidFill>
            <a:srgbClr val="D7E8E4"/>
          </a:solidFill>
          <a:ln w="12700">
            <a:solidFill>
              <a:srgbClr val="0F6B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244144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F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 2 · 표준 용어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26280" y="29260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 Hold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26280" y="349300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Chamber Down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26280" y="4059936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Reserved Down / EndRun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26280" y="4983480"/>
            <a:ext cx="2971800" cy="0"/>
          </a:xfrm>
          <a:prstGeom prst="line">
            <a:avLst/>
          </a:prstGeom>
          <a:noFill/>
          <a:ln w="6350">
            <a:solidFill>
              <a:srgbClr val="0F6B62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4526280" y="510235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skos:prefLabel · :Term 노드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046720" y="2240280"/>
            <a:ext cx="3429000" cy="3246120"/>
          </a:xfrm>
          <a:prstGeom prst="rect">
            <a:avLst/>
          </a:prstGeom>
          <a:solidFill>
            <a:srgbClr val="E1DDF0"/>
          </a:solidFill>
          <a:ln w="12700">
            <a:solidFill>
              <a:srgbClr val="4A3E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75320" y="244144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A3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 3 · 시스템 식별자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75320" y="29260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mes_lothold.hold_code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275320" y="349300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CH#_DOWN_ACTION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275320" y="4059936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mes_eqpmas_ext.resv_event_desc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8275320" y="4983480"/>
            <a:ext cx="2971800" cy="0"/>
          </a:xfrm>
          <a:prstGeom prst="line">
            <a:avLst/>
          </a:prstGeom>
          <a:noFill/>
          <a:ln w="6350">
            <a:solidFill>
              <a:srgbClr val="4A3E7A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8275320" y="510235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3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:Table / :Column / :CodeValue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032504" y="3753612"/>
            <a:ext cx="210312" cy="219456"/>
          </a:xfrm>
          <a:prstGeom prst="rightArrow">
            <a:avLst/>
          </a:prstGeom>
          <a:solidFill>
            <a:srgbClr val="3D4C46"/>
          </a:solidFill>
          <a:ln/>
        </p:spPr>
      </p:sp>
      <p:sp>
        <p:nvSpPr>
          <p:cNvPr id="27" name="Shape 25"/>
          <p:cNvSpPr/>
          <p:nvPr/>
        </p:nvSpPr>
        <p:spPr>
          <a:xfrm>
            <a:off x="7781544" y="3753612"/>
            <a:ext cx="210312" cy="219456"/>
          </a:xfrm>
          <a:prstGeom prst="rightArrow">
            <a:avLst/>
          </a:prstGeom>
          <a:solidFill>
            <a:srgbClr val="3D4C46"/>
          </a:solidFill>
          <a:ln/>
        </p:spPr>
      </p:sp>
      <p:sp>
        <p:nvSpPr>
          <p:cNvPr id="28" name="Text 26"/>
          <p:cNvSpPr/>
          <p:nvPr/>
        </p:nvSpPr>
        <p:spPr>
          <a:xfrm>
            <a:off x="3566160" y="554126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D4C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ALIAS_OF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315200" y="554126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D4C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MAPS_TO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48640" y="5742432"/>
            <a:ext cx="11064240" cy="566928"/>
          </a:xfrm>
          <a:prstGeom prst="roundRect">
            <a:avLst>
              <a:gd name="adj" fmla="val 6452"/>
            </a:avLst>
          </a:prstGeom>
          <a:solidFill>
            <a:srgbClr val="F2DCDE"/>
          </a:solidFill>
          <a:ln w="9525">
            <a:solidFill>
              <a:srgbClr val="8C2F3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5742432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2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범위 경계 </a:t>
            </a:r>
            <a:pPr indent="0" marL="0">
              <a:buNone/>
            </a:pPr>
            <a:r>
              <a:rPr lang="en-US" sz="12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추론은 1→2 구간에만 적용한다. 2→3을 캐스케이드에 섞으면 resv_event_desc와 resv_event_dttm이 “유사하다”는 치명적 오탐이 생긴다.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6B7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문제 정의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F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01 · 문제 정의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설계를 지배하는 다섯 원칙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82296" cy="768096"/>
          </a:xfrm>
          <a:prstGeom prst="rect">
            <a:avLst/>
          </a:prstGeom>
          <a:solidFill>
            <a:srgbClr val="0F6B62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08760"/>
            <a:ext cx="2331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결정적 우선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3246120" y="1508760"/>
            <a:ext cx="5577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D4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입력엔 항상 같은 출력. 사전·규칙 단계에서 풀리면 LLM을 부르지 않는다.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961120" y="1508760"/>
            <a:ext cx="2651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캐스케이드 순서 = 결정성 내림차순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423160"/>
            <a:ext cx="82296" cy="768096"/>
          </a:xfrm>
          <a:prstGeom prst="rect">
            <a:avLst/>
          </a:prstGeom>
          <a:solidFill>
            <a:srgbClr val="0F6B62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423160"/>
            <a:ext cx="2331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근거 동반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3246120" y="2423160"/>
            <a:ext cx="5577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D4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해석 결과는 반드시 “어느 단계에서 나왔는가”를 달고 다닌다.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961120" y="2423160"/>
            <a:ext cx="2651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resolution_stage = evidence_grade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337560"/>
            <a:ext cx="82296" cy="768096"/>
          </a:xfrm>
          <a:prstGeom prst="rect">
            <a:avLst/>
          </a:prstGeom>
          <a:solidFill>
            <a:srgbClr val="A86A05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337560"/>
            <a:ext cx="2331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실패의 자산화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3246120" y="3337560"/>
            <a:ext cx="5577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D4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미해결 질의는 버리지 않고 별칭 후보로 스테이징한다.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961120" y="3337560"/>
            <a:ext cx="2651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6A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선순환 루프 (§06)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4251960"/>
            <a:ext cx="82296" cy="768096"/>
          </a:xfrm>
          <a:prstGeom prst="rect">
            <a:avLst/>
          </a:prstGeom>
          <a:solidFill>
            <a:srgbClr val="A86A05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251960"/>
            <a:ext cx="2331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사람이 최종 승격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3246120" y="4251960"/>
            <a:ext cx="5577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D4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수집된 별칭은 SME 검수를 통과해야 “검수됨” 등급이 된다.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961120" y="4251960"/>
            <a:ext cx="2651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6A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staging → curated 2단 테이블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5166360"/>
            <a:ext cx="82296" cy="768096"/>
          </a:xfrm>
          <a:prstGeom prst="rect">
            <a:avLst/>
          </a:prstGeom>
          <a:solidFill>
            <a:srgbClr val="8C2F3B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166360"/>
            <a:ext cx="2331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비용 하강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3246120" y="5166360"/>
            <a:ext cx="5577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D4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단계가 내려갈수록 지연·비용이 커지므로 상위 단계 적중률에 투자한다.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961120" y="5166360"/>
            <a:ext cx="2651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2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S2 히트율 = 핵심 KPI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6B7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문제 정의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F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02 · 데이터 모델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CSV의 ‘분류’는 프레임 판별자다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D4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분류(Event_Rule / Process / Definition / Request / DML)에 따라 채워지는 하위 컬럼군이 다른 프레임 구조. 평면 테이블로 두면 NULL 80%가 되지만, 그래프로 옮기면 프레임별 노드로 자연 분해된다.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8840"/>
          <a:ext cx="11064240" cy="3017520"/>
        </p:xfrm>
        <a:graphic>
          <a:graphicData uri="http://schemas.openxmlformats.org/drawingml/2006/table">
            <a:tbl>
              <a:tblPr/>
              <a:tblGrid>
                <a:gridCol w="1737360"/>
                <a:gridCol w="3749040"/>
                <a:gridCol w="55778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분류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채워지는 컬럼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그래프 표현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1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definition.subject / predicate / object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6B6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(:Term)-[:ASSERTS]-&gt;(:Statement)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process.from / to / relation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6B6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(:State)-[:TRANSITIONS_TO]-&gt;(:State)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Event_Rule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 / condition / action / result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6B6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(:Trigger)-[:WHEN]-&gt;(:Condition)-[:THEN]-&gt;(:Action)-[:YIELDS]-&gt;(:Result)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request.intent / target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6B6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(:Intent)-[:TARGETS]-&gt;(:Term|:Column)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 / column / value / meaning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6B6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(:Table)-[:HAS_COLUMN]-&gt;(:Column)-[:HAS_VALUE]-&gt;(:CodeValue)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440680"/>
            <a:ext cx="11064240" cy="777240"/>
          </a:xfrm>
          <a:prstGeom prst="roundRect">
            <a:avLst>
              <a:gd name="adj" fmla="val 4706"/>
            </a:avLst>
          </a:prstGeom>
          <a:solidFill>
            <a:srgbClr val="E1DDF0"/>
          </a:solidFill>
          <a:ln w="9525">
            <a:solidFill>
              <a:srgbClr val="4A3E7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5468112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4A3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예시 — “Chamber Down 공통 로직 개선” 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은 Event_Rule 프레임. trigger → condition → action → result 4노드 체인이 되고, 현장어 해석은 trigger/condition 텍스트 안의 CH#, FLAG, Down 토큰에 붙는다.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6B7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데이터 모델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F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03 · 별칭 사전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SKOS 3단 라벨을 차용한 등급 설계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D4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W3C SKOS는 prefLabel(표준) / altLabel(동의어·약어) / hiddenLabel(오탈자 등, 검색엔 걸리되 화면엔 노출 안 함)을 상호 배타 속성으로 정의한다. RDF 전면 도입 없이 이 의미론만 차용한다.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520440" cy="1691640"/>
          </a:xfrm>
          <a:prstGeom prst="rect">
            <a:avLst/>
          </a:prstGeom>
          <a:solidFill>
            <a:srgbClr val="D7E8E4"/>
          </a:solidFill>
          <a:ln w="12700">
            <a:solidFill>
              <a:srgbClr val="0F6B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286000"/>
            <a:ext cx="3118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skos:prefLabel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" y="2606040"/>
            <a:ext cx="3118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4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표준 용어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49808" y="2971800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“Lot Hold”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49808" y="3429000"/>
            <a:ext cx="3118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:Term.pref_label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25112" y="2148840"/>
            <a:ext cx="3520440" cy="1691640"/>
          </a:xfrm>
          <a:prstGeom prst="rect">
            <a:avLst/>
          </a:prstGeom>
          <a:solidFill>
            <a:srgbClr val="F5E7CC"/>
          </a:solidFill>
          <a:ln w="12700">
            <a:solidFill>
              <a:srgbClr val="A86A0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2286000"/>
            <a:ext cx="3118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6A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skos:altLabel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26280" y="2606040"/>
            <a:ext cx="3118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4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검수된 동의어·어근조합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26280" y="2971800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“랏홀드”, “로트홀드”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26280" y="3429000"/>
            <a:ext cx="3118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6A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 = 검수됨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101584" y="2148840"/>
            <a:ext cx="3520440" cy="1691640"/>
          </a:xfrm>
          <a:prstGeom prst="rect">
            <a:avLst/>
          </a:prstGeom>
          <a:solidFill>
            <a:srgbClr val="F2DCDE"/>
          </a:solidFill>
          <a:ln w="12700">
            <a:solidFill>
              <a:srgbClr val="8C2F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02752" y="2286000"/>
            <a:ext cx="3118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C2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skos:hiddenLabel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02752" y="2606040"/>
            <a:ext cx="3118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4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오탈자 변형 (비표시)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302752" y="2971800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“혿드”, “랏훌드”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302752" y="3429000"/>
            <a:ext cx="3118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2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 = 자동수집</a:t>
            </a:r>
            <a:endParaRPr lang="en-US" sz="9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023360"/>
          <a:ext cx="11064240" cy="2103120"/>
        </p:xfrm>
        <a:graphic>
          <a:graphicData uri="http://schemas.openxmlformats.org/drawingml/2006/table">
            <a:tbl>
              <a:tblPr/>
              <a:tblGrid>
                <a:gridCol w="2560320"/>
                <a:gridCol w="3200400"/>
                <a:gridCol w="530352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속성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예시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역할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1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6B6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surface_norm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랏홀드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 정확 일치 키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6B6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jamo_key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ㄹㅏㅅㅎㅗㄹㄷㅡ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S5 편집거리 계산 키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6B6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scope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PHOTO / GLOBAL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공정·라인별 중의성 격리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6B6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grade / curated_by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검수됨 / SME_kim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등급 승격 감사 추적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6B7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별칭 사전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8FD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04 · 캐스케이드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6단 해석 캐스케이드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5440" y="2286000"/>
            <a:ext cx="1444752" cy="1920240"/>
          </a:xfrm>
          <a:prstGeom prst="rect">
            <a:avLst/>
          </a:prstGeom>
          <a:solidFill>
            <a:srgbClr val="1B2A24"/>
          </a:solidFill>
          <a:ln w="15875">
            <a:solidFill>
              <a:srgbClr val="0F6B6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5440" y="2286000"/>
            <a:ext cx="1444752" cy="365760"/>
          </a:xfrm>
          <a:prstGeom prst="rect">
            <a:avLst/>
          </a:prstGeom>
          <a:solidFill>
            <a:srgbClr val="0F6B62"/>
          </a:solidFill>
          <a:ln/>
        </p:spPr>
      </p:sp>
      <p:sp>
        <p:nvSpPr>
          <p:cNvPr id="6" name="Text 4"/>
          <p:cNvSpPr/>
          <p:nvPr/>
        </p:nvSpPr>
        <p:spPr>
          <a:xfrm>
            <a:off x="545440" y="228600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0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8592" y="2788920"/>
            <a:ext cx="1298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정규화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8592" y="3520440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FB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Kiwi · 조사제거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999336" y="3163824"/>
            <a:ext cx="146304" cy="164592"/>
          </a:xfrm>
          <a:prstGeom prst="rightArrow">
            <a:avLst/>
          </a:prstGeom>
          <a:solidFill>
            <a:srgbClr val="5E706A"/>
          </a:solidFill>
          <a:ln/>
        </p:spPr>
      </p:sp>
      <p:sp>
        <p:nvSpPr>
          <p:cNvPr id="10" name="Shape 8"/>
          <p:cNvSpPr/>
          <p:nvPr/>
        </p:nvSpPr>
        <p:spPr>
          <a:xfrm>
            <a:off x="2154784" y="2286000"/>
            <a:ext cx="1444752" cy="1920240"/>
          </a:xfrm>
          <a:prstGeom prst="rect">
            <a:avLst/>
          </a:prstGeom>
          <a:solidFill>
            <a:srgbClr val="1B2A24"/>
          </a:solidFill>
          <a:ln w="15875">
            <a:solidFill>
              <a:srgbClr val="0F6B6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54784" y="2286000"/>
            <a:ext cx="1444752" cy="365760"/>
          </a:xfrm>
          <a:prstGeom prst="rect">
            <a:avLst/>
          </a:prstGeom>
          <a:solidFill>
            <a:srgbClr val="0F6B62"/>
          </a:solidFill>
          <a:ln/>
        </p:spPr>
      </p:sp>
      <p:sp>
        <p:nvSpPr>
          <p:cNvPr id="12" name="Text 10"/>
          <p:cNvSpPr/>
          <p:nvPr/>
        </p:nvSpPr>
        <p:spPr>
          <a:xfrm>
            <a:off x="2154784" y="228600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0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227936" y="2788920"/>
            <a:ext cx="1298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 일치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227936" y="3520440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FB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B-tree &lt;1ms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608680" y="3163824"/>
            <a:ext cx="146304" cy="164592"/>
          </a:xfrm>
          <a:prstGeom prst="rightArrow">
            <a:avLst/>
          </a:prstGeom>
          <a:solidFill>
            <a:srgbClr val="5E706A"/>
          </a:solidFill>
          <a:ln/>
        </p:spPr>
      </p:sp>
      <p:sp>
        <p:nvSpPr>
          <p:cNvPr id="16" name="Shape 14"/>
          <p:cNvSpPr/>
          <p:nvPr/>
        </p:nvSpPr>
        <p:spPr>
          <a:xfrm>
            <a:off x="3764128" y="2286000"/>
            <a:ext cx="1444752" cy="1920240"/>
          </a:xfrm>
          <a:prstGeom prst="rect">
            <a:avLst/>
          </a:prstGeom>
          <a:solidFill>
            <a:srgbClr val="1B2A24"/>
          </a:solidFill>
          <a:ln w="15875">
            <a:solidFill>
              <a:srgbClr val="0F6B6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64128" y="2286000"/>
            <a:ext cx="1444752" cy="365760"/>
          </a:xfrm>
          <a:prstGeom prst="rect">
            <a:avLst/>
          </a:prstGeom>
          <a:solidFill>
            <a:srgbClr val="0F6B62"/>
          </a:solidFill>
          <a:ln/>
        </p:spPr>
      </p:sp>
      <p:sp>
        <p:nvSpPr>
          <p:cNvPr id="18" name="Text 16"/>
          <p:cNvSpPr/>
          <p:nvPr/>
        </p:nvSpPr>
        <p:spPr>
          <a:xfrm>
            <a:off x="3764128" y="228600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0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837280" y="2788920"/>
            <a:ext cx="1298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부분 일치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837280" y="3520440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FB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Lucene · BM25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218024" y="3163824"/>
            <a:ext cx="146304" cy="164592"/>
          </a:xfrm>
          <a:prstGeom prst="rightArrow">
            <a:avLst/>
          </a:prstGeom>
          <a:solidFill>
            <a:srgbClr val="5E706A"/>
          </a:solidFill>
          <a:ln/>
        </p:spPr>
      </p:sp>
      <p:sp>
        <p:nvSpPr>
          <p:cNvPr id="22" name="Shape 20"/>
          <p:cNvSpPr/>
          <p:nvPr/>
        </p:nvSpPr>
        <p:spPr>
          <a:xfrm>
            <a:off x="5373472" y="2286000"/>
            <a:ext cx="1444752" cy="1920240"/>
          </a:xfrm>
          <a:prstGeom prst="rect">
            <a:avLst/>
          </a:prstGeom>
          <a:solidFill>
            <a:srgbClr val="1B2A24"/>
          </a:solidFill>
          <a:ln w="15875">
            <a:solidFill>
              <a:srgbClr val="A86A0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73472" y="2286000"/>
            <a:ext cx="1444752" cy="365760"/>
          </a:xfrm>
          <a:prstGeom prst="rect">
            <a:avLst/>
          </a:prstGeom>
          <a:solidFill>
            <a:srgbClr val="A86A05"/>
          </a:solidFill>
          <a:ln/>
        </p:spPr>
      </p:sp>
      <p:sp>
        <p:nvSpPr>
          <p:cNvPr id="24" name="Text 22"/>
          <p:cNvSpPr/>
          <p:nvPr/>
        </p:nvSpPr>
        <p:spPr>
          <a:xfrm>
            <a:off x="5373472" y="228600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0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46624" y="2788920"/>
            <a:ext cx="1298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어근 조합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46624" y="3520440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FB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랏＋홀드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827368" y="3163824"/>
            <a:ext cx="146304" cy="164592"/>
          </a:xfrm>
          <a:prstGeom prst="rightArrow">
            <a:avLst/>
          </a:prstGeom>
          <a:solidFill>
            <a:srgbClr val="5E706A"/>
          </a:solidFill>
          <a:ln/>
        </p:spPr>
      </p:sp>
      <p:sp>
        <p:nvSpPr>
          <p:cNvPr id="28" name="Shape 26"/>
          <p:cNvSpPr/>
          <p:nvPr/>
        </p:nvSpPr>
        <p:spPr>
          <a:xfrm>
            <a:off x="6982816" y="2286000"/>
            <a:ext cx="1444752" cy="1920240"/>
          </a:xfrm>
          <a:prstGeom prst="rect">
            <a:avLst/>
          </a:prstGeom>
          <a:solidFill>
            <a:srgbClr val="1B2A24"/>
          </a:solidFill>
          <a:ln w="15875">
            <a:solidFill>
              <a:srgbClr val="A86A0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82816" y="2286000"/>
            <a:ext cx="1444752" cy="365760"/>
          </a:xfrm>
          <a:prstGeom prst="rect">
            <a:avLst/>
          </a:prstGeom>
          <a:solidFill>
            <a:srgbClr val="A86A05"/>
          </a:solidFill>
          <a:ln/>
        </p:spPr>
      </p:sp>
      <p:sp>
        <p:nvSpPr>
          <p:cNvPr id="30" name="Text 28"/>
          <p:cNvSpPr/>
          <p:nvPr/>
        </p:nvSpPr>
        <p:spPr>
          <a:xfrm>
            <a:off x="6982816" y="228600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0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055968" y="2788920"/>
            <a:ext cx="1298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오타 보정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055968" y="3520440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FB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자모 편집거리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8436712" y="3163824"/>
            <a:ext cx="146304" cy="164592"/>
          </a:xfrm>
          <a:prstGeom prst="rightArrow">
            <a:avLst/>
          </a:prstGeom>
          <a:solidFill>
            <a:srgbClr val="5E706A"/>
          </a:solidFill>
          <a:ln/>
        </p:spPr>
      </p:sp>
      <p:sp>
        <p:nvSpPr>
          <p:cNvPr id="34" name="Shape 32"/>
          <p:cNvSpPr/>
          <p:nvPr/>
        </p:nvSpPr>
        <p:spPr>
          <a:xfrm>
            <a:off x="8592160" y="2286000"/>
            <a:ext cx="1444752" cy="1920240"/>
          </a:xfrm>
          <a:prstGeom prst="rect">
            <a:avLst/>
          </a:prstGeom>
          <a:solidFill>
            <a:srgbClr val="1B2A24"/>
          </a:solidFill>
          <a:ln w="15875">
            <a:solidFill>
              <a:srgbClr val="8C2F3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592160" y="2286000"/>
            <a:ext cx="1444752" cy="365760"/>
          </a:xfrm>
          <a:prstGeom prst="rect">
            <a:avLst/>
          </a:prstGeom>
          <a:solidFill>
            <a:srgbClr val="8C2F3B"/>
          </a:solidFill>
          <a:ln/>
        </p:spPr>
      </p:sp>
      <p:sp>
        <p:nvSpPr>
          <p:cNvPr id="36" name="Text 34"/>
          <p:cNvSpPr/>
          <p:nvPr/>
        </p:nvSpPr>
        <p:spPr>
          <a:xfrm>
            <a:off x="8592160" y="228600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0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S6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665312" y="2788920"/>
            <a:ext cx="1298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의미 폴백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665312" y="3520440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FB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Milvus + RRF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10046056" y="3163824"/>
            <a:ext cx="146304" cy="164592"/>
          </a:xfrm>
          <a:prstGeom prst="rightArrow">
            <a:avLst/>
          </a:prstGeom>
          <a:solidFill>
            <a:srgbClr val="5E706A"/>
          </a:solidFill>
          <a:ln/>
        </p:spPr>
      </p:sp>
      <p:sp>
        <p:nvSpPr>
          <p:cNvPr id="40" name="Shape 38"/>
          <p:cNvSpPr/>
          <p:nvPr/>
        </p:nvSpPr>
        <p:spPr>
          <a:xfrm>
            <a:off x="10201504" y="2286000"/>
            <a:ext cx="1444752" cy="1920240"/>
          </a:xfrm>
          <a:prstGeom prst="rect">
            <a:avLst/>
          </a:prstGeom>
          <a:solidFill>
            <a:srgbClr val="1B2A24"/>
          </a:solidFill>
          <a:ln w="15875">
            <a:solidFill>
              <a:srgbClr val="8C2F3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201504" y="2286000"/>
            <a:ext cx="1444752" cy="365760"/>
          </a:xfrm>
          <a:prstGeom prst="rect">
            <a:avLst/>
          </a:prstGeom>
          <a:solidFill>
            <a:srgbClr val="8C2F3B"/>
          </a:solidFill>
          <a:ln/>
        </p:spPr>
      </p:sp>
      <p:sp>
        <p:nvSpPr>
          <p:cNvPr id="42" name="Text 40"/>
          <p:cNvSpPr/>
          <p:nvPr/>
        </p:nvSpPr>
        <p:spPr>
          <a:xfrm>
            <a:off x="10201504" y="228600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0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S7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10274656" y="2788920"/>
            <a:ext cx="1298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판정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10274656" y="3520440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FB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제약형 프롬프트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45440" y="4343400"/>
            <a:ext cx="11100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70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 →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45440" y="4709160"/>
            <a:ext cx="3700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C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S2·S3  </a:t>
            </a:r>
            <a:pPr algn="ctr" indent="0" marL="0">
              <a:buNone/>
            </a:pPr>
            <a:r>
              <a:rPr lang="en-US" sz="1100" b="1" dirty="0">
                <a:solidFill>
                  <a:srgbClr val="0F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검수됨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245712" y="4709160"/>
            <a:ext cx="3700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C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S4·S5  </a:t>
            </a:r>
            <a:pPr algn="ctr" indent="0" marL="0">
              <a:buNone/>
            </a:pPr>
            <a:r>
              <a:rPr lang="en-US" sz="1100" b="1" dirty="0">
                <a:solidFill>
                  <a:srgbClr val="A86A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자동 수집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945984" y="4709160"/>
            <a:ext cx="3700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C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S6·S7  </a:t>
            </a:r>
            <a:pPr algn="ctr" indent="0" marL="0">
              <a:buNone/>
            </a:pPr>
            <a:r>
              <a:rPr lang="en-US" sz="1100" b="1" dirty="0">
                <a:solidFill>
                  <a:srgbClr val="8C2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관련 추정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45440" y="5349240"/>
            <a:ext cx="11100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7D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단계가 내려갈수록 결정성·설명력이 낮아지고, 근거 등급도 함께 하락한다 — 단계 자체가 근거가 되는 설계.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6B7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캐스케이드 개요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F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04 · 캐스케이드 상세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 정규화 · S2 정확 일치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417320" cy="256032"/>
          </a:xfrm>
          <a:prstGeom prst="roundRect">
            <a:avLst>
              <a:gd name="adj" fmla="val 17857"/>
            </a:avLst>
          </a:prstGeom>
          <a:solidFill>
            <a:srgbClr val="D7E8E4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4173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결정적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084832" y="141732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D7E8E4"/>
          </a:solidFill>
          <a:ln/>
        </p:spPr>
      </p:sp>
      <p:sp>
        <p:nvSpPr>
          <p:cNvPr id="7" name="Text 5"/>
          <p:cNvSpPr/>
          <p:nvPr/>
        </p:nvSpPr>
        <p:spPr>
          <a:xfrm>
            <a:off x="2084832" y="14173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&lt;5ms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874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D4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Kiwi(kiwipiepy)는 세종 품사 태그 기반 분석기로 웹 텍스트 약 87%, 문어 약 94% 정확도가 보고되며, 0.13.0 이후 오타·띄어쓰기 자체 교정을 지원한다 — S1과 S5를 한 라이브러리로 커버 가능. S2는 전체 질의의 70% 이상을 담당해야 건강한 시스템이다.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88920"/>
          <a:ext cx="6309360" cy="3063240"/>
        </p:xfrm>
        <a:graphic>
          <a:graphicData uri="http://schemas.openxmlformats.org/drawingml/2006/table">
            <a:tbl>
              <a:tblPr/>
              <a:tblGrid>
                <a:gridCol w="1920240"/>
                <a:gridCol w="4389120"/>
              </a:tblGrid>
              <a:tr h="6126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분석기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판단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1C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Kiwi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오타 자체교정 + 형태소 결합. 1순위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Mecab-ko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최고속. 어간화 미제공. 배치 전용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Okt(Twitter)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신조어·줄임말 강함. 로그 마이닝 보조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Komoran/Kkma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사용자사전 용이. 우선순위 낮음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7040880" y="2788920"/>
            <a:ext cx="4572000" cy="3063240"/>
          </a:xfrm>
          <a:prstGeom prst="rect">
            <a:avLst/>
          </a:prstGeom>
          <a:solidFill>
            <a:srgbClr val="14201C"/>
          </a:solidFill>
          <a:ln w="12700">
            <a:solidFill>
              <a:srgbClr val="0A120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223760" y="288036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F84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· 정규화 파이프라인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7223760" y="3127248"/>
            <a:ext cx="4206240" cy="2679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D6E2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kiwipiepy import Kiwi</a:t>
            </a:r>
            <a:endParaRPr lang="en-US" sz="9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D6E2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kiwi = Kiwi(typos='basic_with_continual')</a:t>
            </a:r>
            <a:endParaRPr lang="en-US" sz="9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D6E2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kiwi.add_user_word('랏홀드','NNP',score=5.0)</a:t>
            </a:r>
            <a:endParaRPr lang="en-US" sz="900" dirty="0"/>
          </a:p>
          <a:p>
            <a:pPr indent="0" marL="0">
              <a:lnSpc>
                <a:spcPct val="122000"/>
              </a:lnSpc>
              <a:buNone/>
            </a:pPr>
            <a:endParaRPr lang="en-US" sz="9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D6E2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 = {'JKS','JKO','JKB','JX','EF','EC'}</a:t>
            </a:r>
            <a:endParaRPr lang="en-US" sz="900" dirty="0"/>
          </a:p>
          <a:p>
            <a:pPr indent="0" marL="0">
              <a:lnSpc>
                <a:spcPct val="122000"/>
              </a:lnSpc>
              <a:buNone/>
            </a:pPr>
            <a:endParaRPr lang="en-US" sz="9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D6E2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normalize(text):</a:t>
            </a:r>
            <a:endParaRPr lang="en-US" sz="9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D6E2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 = unicodedata.normalize('NFC', text)</a:t>
            </a:r>
            <a:endParaRPr lang="en-US" sz="9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D6E2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 = re.sub(r'[\s\-_/]+', '', t).lower()</a:t>
            </a:r>
            <a:endParaRPr lang="en-US" sz="9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D6E2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toks = kiwi.tokenize(t)</a:t>
            </a:r>
            <a:endParaRPr lang="en-US" sz="9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D6E2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''.join(tk.form for tk in toks</a:t>
            </a:r>
            <a:endParaRPr lang="en-US" sz="9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D6E2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if tk.tag not in DROP)</a:t>
            </a:r>
            <a:endParaRPr lang="en-US" sz="900" dirty="0"/>
          </a:p>
          <a:p>
            <a:pPr indent="0" marL="0">
              <a:lnSpc>
                <a:spcPct val="122000"/>
              </a:lnSpc>
              <a:buNone/>
            </a:pPr>
            <a:endParaRPr lang="en-US" sz="9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D6E2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normalize("랏홀드가") -&gt; "랏홀드"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" y="5815584"/>
            <a:ext cx="11064240" cy="566928"/>
          </a:xfrm>
          <a:prstGeom prst="roundRect">
            <a:avLst>
              <a:gd name="adj" fmla="val 6452"/>
            </a:avLst>
          </a:prstGeom>
          <a:solidFill>
            <a:srgbClr val="F2DCDE"/>
          </a:solidFill>
          <a:ln w="9525">
            <a:solidFill>
              <a:srgbClr val="8C2F3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7240" y="581558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함정 — NFC/NFD 미통일(macOS 자모분리) 및 도메인 고유명사 미등록 시 Kiwi가 “랏홀드”를 스스로 쪼개 S4의 일을 S1이 먼저 망가뜨린다.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6B7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S1·S2 상세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F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04 · 캐스케이드 상세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S3 부분 일치 · S4 어근 조합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417320" cy="256032"/>
          </a:xfrm>
          <a:prstGeom prst="roundRect">
            <a:avLst>
              <a:gd name="adj" fmla="val 17857"/>
            </a:avLst>
          </a:prstGeom>
          <a:solidFill>
            <a:srgbClr val="D7E8E4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4173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결정적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084832" y="141732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D7E8E4"/>
          </a:solidFill>
          <a:ln/>
        </p:spPr>
      </p:sp>
      <p:sp>
        <p:nvSpPr>
          <p:cNvPr id="7" name="Text 5"/>
          <p:cNvSpPr/>
          <p:nvPr/>
        </p:nvSpPr>
        <p:spPr>
          <a:xfrm>
            <a:off x="2084832" y="14173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θ 튜닝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874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D4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S3는 등록 별칭을 포함하는 더 긴 표현·어순 변형을 잡는다. 5만 건 미만이면 RapidFuzz 인메모리가 유리, 그 이상이면 Neo4j Lucene 전문 인덱스로. S4는 “랏”(lot)+“홀드”(hold)처럼 등록 안 된 복합 현장어를 어근 조합으로 해석한다.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88920"/>
          <a:ext cx="6309360" cy="3063240"/>
        </p:xfrm>
        <a:graphic>
          <a:graphicData uri="http://schemas.openxmlformats.org/drawingml/2006/table">
            <a:tbl>
              <a:tblPr/>
              <a:tblGrid>
                <a:gridCol w="2377440"/>
                <a:gridCol w="3931920"/>
              </a:tblGrid>
              <a:tr h="7658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경로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적합 조건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1C"/>
                    </a:solidFill>
                  </a:tcPr>
                </a:tc>
              </a:tr>
              <a:tr h="7658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Neo4j Lucene fulltext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그래프 일원화, 10만건 이상, cjk 애널라이저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58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RapidFuzz 인메모리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5만건 미만, 지연·디버깅 유리 (권장)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58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apoc.text.levenshtein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Similarity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BM25 정렬 + 절대 유사도 컷오프 병행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7040880" y="2788920"/>
            <a:ext cx="4572000" cy="3063240"/>
          </a:xfrm>
          <a:prstGeom prst="rect">
            <a:avLst/>
          </a:prstGeom>
          <a:solidFill>
            <a:srgbClr val="14201C"/>
          </a:solidFill>
          <a:ln w="12700">
            <a:solidFill>
              <a:srgbClr val="0A120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223760" y="288036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F84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· 어근 분해 (S4)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7223760" y="3127248"/>
            <a:ext cx="4206240" cy="2679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D6E2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최장일치 DP 분해</a:t>
            </a:r>
            <a:endParaRPr lang="en-US" sz="9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D6E2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MORPH = {'랏':'LOT','홀드':'HOLD',</a:t>
            </a:r>
            <a:endParaRPr lang="en-US" sz="9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D6E2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'챔버':'CHAMBER','다운':'DOWN'}</a:t>
            </a:r>
            <a:endParaRPr lang="en-US" sz="900" dirty="0"/>
          </a:p>
          <a:p>
            <a:pPr indent="0" marL="0">
              <a:lnSpc>
                <a:spcPct val="122000"/>
              </a:lnSpc>
              <a:buNone/>
            </a:pPr>
            <a:endParaRPr lang="en-US" sz="9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D6E2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segment(s):</a:t>
            </a:r>
            <a:endParaRPr lang="en-US" sz="9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D6E2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n=len(s); dp=[None]*(n+1); dp[0]=[]</a:t>
            </a:r>
            <a:endParaRPr lang="en-US" sz="9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D6E2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 in range(1,n+1):</a:t>
            </a:r>
            <a:endParaRPr lang="en-US" sz="9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D6E2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L in range(min(MAX_LEN,i),0,-1):</a:t>
            </a:r>
            <a:endParaRPr lang="en-US" sz="9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D6E2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 = s[i-L:i]</a:t>
            </a:r>
            <a:endParaRPr lang="en-US" sz="9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D6E2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dp[i-L] is not None and p in MORPH:</a:t>
            </a:r>
            <a:endParaRPr lang="en-US" sz="9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D6E2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dp[i] = dp[i-L]+[MORPH[p]]; break</a:t>
            </a:r>
            <a:endParaRPr lang="en-US" sz="9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D6E2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dp[n]   # ['LOT','HOLD'] or None</a:t>
            </a:r>
            <a:endParaRPr lang="en-US" sz="900" dirty="0"/>
          </a:p>
          <a:p>
            <a:pPr indent="0" marL="0">
              <a:lnSpc>
                <a:spcPct val="122000"/>
              </a:lnSpc>
              <a:buNone/>
            </a:pPr>
            <a:endParaRPr lang="en-US" sz="9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D6E2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S4 결과는 즉시 응답 + 별칭후보 스테이징</a:t>
            </a:r>
            <a:endParaRPr lang="en-US" sz="9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D6E2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→ SME 승인 시 다음부터 S2에서 O(1) 처리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" y="5879592"/>
            <a:ext cx="11064240" cy="502920"/>
          </a:xfrm>
          <a:prstGeom prst="roundRect">
            <a:avLst>
              <a:gd name="adj" fmla="val 7273"/>
            </a:avLst>
          </a:prstGeom>
          <a:solidFill>
            <a:srgbClr val="F5E7CC"/>
          </a:solidFill>
          <a:ln w="9525">
            <a:solidFill>
              <a:srgbClr val="A86A0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7240" y="5879592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S3/S4는 동시에 두 경로를 유지하지 않는다 — 임계값이 두 벌이 되면 튜닝이 불가능해진다.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6B7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S3·S4 상세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F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04 · 캐스케이드 상세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S5 오타 보정 · S6 의미 폴백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417320" cy="256032"/>
          </a:xfrm>
          <a:prstGeom prst="roundRect">
            <a:avLst>
              <a:gd name="adj" fmla="val 17857"/>
            </a:avLst>
          </a:prstGeom>
          <a:solidFill>
            <a:srgbClr val="F2DCDE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4173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C2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확률적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084832" y="141732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D7E8E4"/>
          </a:solidFill>
          <a:ln/>
        </p:spPr>
      </p:sp>
      <p:sp>
        <p:nvSpPr>
          <p:cNvPr id="7" name="Text 5"/>
          <p:cNvSpPr/>
          <p:nvPr/>
        </p:nvSpPr>
        <p:spPr>
          <a:xfrm>
            <a:off x="2084832" y="14173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오탐 주의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874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D4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한글은 음절 단위 편집거리가 오타 심각도를 과대평가한다 — 자모 분해가 훨씬 정확하다. S6는 BM25(어휘)와 임베딩(의미)을 RRF로 융합한다: 벡터는 식별자 구분에 체계적으로 약하고, BM25는 IDF·TF포화·길이정규화로 그 빈틈을 메운다.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788920"/>
            <a:ext cx="63093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buSzPct val="100000"/>
              <a:buChar char="–"/>
            </a:pPr>
            <a:r>
              <a:rPr lang="en-US" sz="125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“혿드”↔“홀드”: 음절거리 50% vs 자모거리 20% — 자모 분해가 오타 판정을 정밀화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–"/>
            </a:pPr>
            <a:r>
              <a:rPr lang="en-US" sz="125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카카오 Khaiii, BiLSTM+CRF 연구도 자모 분리 입력으로 오타 강건성 확보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–"/>
            </a:pPr>
            <a:r>
              <a:rPr lang="en-US" sz="125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임베딩은 “설비가 멈춰 있다” → EQP_DOWN 같은 서술형에 강함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–"/>
            </a:pPr>
            <a:r>
              <a:rPr lang="en-US" sz="125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잘못 튜닝된 하이브리드는 dense 단독보다 나빠질 수 있음 — 반드시 자체 질의로 측정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–"/>
            </a:pPr>
            <a:r>
              <a:rPr lang="en-US" sz="125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상위 1건이 2위와 충분히 안 벌어지면(margin&lt;1.25) S7로 에스컬레이션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040880" y="2788920"/>
            <a:ext cx="4572000" cy="3063240"/>
          </a:xfrm>
          <a:prstGeom prst="rect">
            <a:avLst/>
          </a:prstGeom>
          <a:solidFill>
            <a:srgbClr val="14201C"/>
          </a:solidFill>
          <a:ln w="12700">
            <a:solidFill>
              <a:srgbClr val="0A120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23760" y="288036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F84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· S5 자모거리 / S6 RRF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223760" y="3127248"/>
            <a:ext cx="4206240" cy="2679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D6E2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자모 편집거리 (S5)</a:t>
            </a:r>
            <a:endParaRPr lang="en-US" sz="9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D6E2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jamo_similarity(a, b):</a:t>
            </a:r>
            <a:endParaRPr lang="en-US" sz="9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D6E2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ja, jb = to_jamo(a), to_jamo(b)</a:t>
            </a:r>
            <a:endParaRPr lang="en-US" sz="9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D6E2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 = DamerauLevenshtein.distance(ja, jb)</a:t>
            </a:r>
            <a:endParaRPr lang="en-US" sz="9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D6E2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1 - d / max(len(ja), len(jb))</a:t>
            </a:r>
            <a:endParaRPr lang="en-US" sz="9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D6E2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길이별 θ: &lt;=4자모 skip, 5~8자모 0.90</a:t>
            </a:r>
            <a:endParaRPr lang="en-US" sz="900" dirty="0"/>
          </a:p>
          <a:p>
            <a:pPr indent="0" marL="0">
              <a:lnSpc>
                <a:spcPct val="122000"/>
              </a:lnSpc>
              <a:buNone/>
            </a:pPr>
            <a:endParaRPr lang="en-US" sz="9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D6E2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RRF 융합 (S6)</a:t>
            </a:r>
            <a:endParaRPr lang="en-US" sz="9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D6E2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rrf_fuse(*lists, k=60, weights=None):</a:t>
            </a:r>
            <a:endParaRPr lang="en-US" sz="9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D6E2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scores = {}</a:t>
            </a:r>
            <a:endParaRPr lang="en-US" sz="9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D6E2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w, lst in zip(weights, lists):</a:t>
            </a:r>
            <a:endParaRPr lang="en-US" sz="9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D6E2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r, tid in enumerate(lst, 1):</a:t>
            </a:r>
            <a:endParaRPr lang="en-US" sz="9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D6E2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scores[tid] = scores.get(tid,0)+w/(k+r)</a:t>
            </a:r>
            <a:endParaRPr lang="en-US" sz="9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D6E2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sorted(scores.items(),</a:t>
            </a:r>
            <a:endParaRPr lang="en-US" sz="9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D6E2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key=lambda x: -x[1])</a:t>
            </a:r>
            <a:endParaRPr lang="en-US" sz="900" dirty="0"/>
          </a:p>
          <a:p>
            <a:pPr indent="0" marL="0">
              <a:lnSpc>
                <a:spcPct val="122000"/>
              </a:lnSpc>
              <a:buNone/>
            </a:pPr>
            <a:endParaRPr lang="en-US" sz="9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D6E2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lex = bm25_search(norm, top_k=30)</a:t>
            </a:r>
            <a:endParaRPr lang="en-US" sz="9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D6E2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dense = milvus_search(embed(norm+ctx))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5879592"/>
            <a:ext cx="11064240" cy="502920"/>
          </a:xfrm>
          <a:prstGeom prst="roundRect">
            <a:avLst>
              <a:gd name="adj" fmla="val 7273"/>
            </a:avLst>
          </a:prstGeom>
          <a:solidFill>
            <a:srgbClr val="F2DCDE"/>
          </a:solidFill>
          <a:ln w="9525">
            <a:solidFill>
              <a:srgbClr val="8C2F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5879592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3음절 이하 토큰은 θ를 0.90 이상으로 올리거나 S5를 건너뛴다 — 짧을수록 오탐 위험이 급증한다.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6B7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S5·S6 상세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F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04·06 · 최종 판정과 근거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S7 LLM 판정 &amp; 근거 등급 매핑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D4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S7은 후보 목록 안에서만 고르게 강제한다(자유 생성 금지). 해석 단계 자체가 근거 등급이 되도록 설계하면 별도 신뢰도 모델이 필요 없다.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1064240" cy="3200400"/>
        </p:xfrm>
        <a:graphic>
          <a:graphicData uri="http://schemas.openxmlformats.org/drawingml/2006/table">
            <a:tbl>
              <a:tblPr/>
              <a:tblGrid>
                <a:gridCol w="822960"/>
                <a:gridCol w="1371600"/>
                <a:gridCol w="1828800"/>
                <a:gridCol w="4297680"/>
                <a:gridCol w="2743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단계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등급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SKOS 라벨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사용자 문구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후속 액션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1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D4C4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S2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검수됨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4C4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altLabel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등록된 표준 용어입니다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hit_count++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D4C4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S3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검수됨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4C4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altLabel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등록 용어의 변형으로 해석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변형형 별칭 후보화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D4C4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S4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A86A0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자동수집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4C4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altLabel(후보)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어근 조합으로 해석(검수 전)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검수큐 등록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D4C4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S5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A86A0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자동수집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4C4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hiddenLabel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오타로 보고 보정했습니다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검수큐 + 오타쌍 기록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D4C4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S6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C2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관련추정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4C4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—(미저장)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가장 가까운 용어로 추정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사용자 확인 요청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D4C4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S7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C2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관련추정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4C4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—(스테이징)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AI가 문맥으로 추정: {근거}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LLM_EXTRACTED 적재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440680"/>
            <a:ext cx="11064240" cy="777240"/>
          </a:xfrm>
          <a:prstGeom prst="roundRect">
            <a:avLst>
              <a:gd name="adj" fmla="val 4706"/>
            </a:avLst>
          </a:prstGeom>
          <a:solidFill>
            <a:srgbClr val="F2DCDE"/>
          </a:solidFill>
          <a:ln w="9525">
            <a:solidFill>
              <a:srgbClr val="8C2F3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5468112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8C2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등급 세탁 금지 —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S6/S7 결과를 곧바로 :Alias로 저장하면 오탐이 다음 질의에서 “검수됨”으로 되돌아온다. 관련추정 결과는 반드시 staging 네임스페이스에만 적재하고 조회 경로를 물리적으로 분리한다.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6B7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S7 · 근거 등급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F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05 · 저장소 비교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저장소·검색엔진 조합 비교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3063240"/>
        </p:xfrm>
        <a:graphic>
          <a:graphicData uri="http://schemas.openxmlformats.org/drawingml/2006/table">
            <a:tbl>
              <a:tblPr/>
              <a:tblGrid>
                <a:gridCol w="1828800"/>
                <a:gridCol w="1463040"/>
                <a:gridCol w="3291840"/>
                <a:gridCol w="3017520"/>
                <a:gridCol w="1463040"/>
              </a:tblGrid>
              <a:tr h="6126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구성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담당 단계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장점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제약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권고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1C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0F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Neo4j 단독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S2·S3·S6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그래프 일원화, 해석→멀티홉 탐색 직결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한글 애널라이저 제어 제한, 벡터 성능 열세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중소규모 1순위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8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0F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Neo4j+Milvus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S2·S3 / S6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기존 배포대기 자산 재사용, 관심사 분리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두 저장소 ID 동기화가 운영 부채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현 스택 실질 채택안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0F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+Elasticsearch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 전담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nori 분석기, 성숙한 랭킹 튜닝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3중 저장소 = 5만건 규모엔 과설계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문서 전문검색 별도요구시만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8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0F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RDB+인메모리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S2~S5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 원천 원칙과 정합, 재현 최고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S6 불가, 사전 커지면 메모리 압박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PoC 1단계·게이트① 측정용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754880"/>
            <a:ext cx="11064240" cy="777240"/>
          </a:xfrm>
          <a:prstGeom prst="roundRect">
            <a:avLst>
              <a:gd name="adj" fmla="val 4706"/>
            </a:avLst>
          </a:prstGeom>
          <a:solidFill>
            <a:srgbClr val="D7E8E4"/>
          </a:solidFill>
          <a:ln w="9525">
            <a:solidFill>
              <a:srgbClr val="0F6B6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4782312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권고 —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3단계 도입 게이트(① 언급매칭 연결률 측정 → ② 부족시 Milvus → ③ 그래도 부족시 LLM추출)를 저장소 선택에도 동일 적용. 처음부터 3층을 다 세우면 어느 층이 성능을 만드는지 측정할 수 없다.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48640" y="5806440"/>
            <a:ext cx="164592" cy="164592"/>
          </a:xfrm>
          <a:prstGeom prst="rect">
            <a:avLst/>
          </a:prstGeom>
          <a:solidFill>
            <a:srgbClr val="0F6B62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57607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4C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결정적·저비용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651760" y="5806440"/>
            <a:ext cx="164592" cy="164592"/>
          </a:xfrm>
          <a:prstGeom prst="rect">
            <a:avLst/>
          </a:prstGeom>
          <a:solidFill>
            <a:srgbClr val="A86A05"/>
          </a:solidFill>
          <a:ln/>
        </p:spPr>
      </p:sp>
      <p:sp>
        <p:nvSpPr>
          <p:cNvPr id="10" name="Text 7"/>
          <p:cNvSpPr/>
          <p:nvPr/>
        </p:nvSpPr>
        <p:spPr>
          <a:xfrm>
            <a:off x="2880360" y="57607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4C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확률적·중간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754880" y="5806440"/>
            <a:ext cx="164592" cy="164592"/>
          </a:xfrm>
          <a:prstGeom prst="rect">
            <a:avLst/>
          </a:prstGeom>
          <a:solidFill>
            <a:srgbClr val="8C2F3B"/>
          </a:solidFill>
          <a:ln/>
        </p:spPr>
      </p:sp>
      <p:sp>
        <p:nvSpPr>
          <p:cNvPr id="12" name="Text 9"/>
          <p:cNvSpPr/>
          <p:nvPr/>
        </p:nvSpPr>
        <p:spPr>
          <a:xfrm>
            <a:off x="4983480" y="57607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4C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비결정적·고비용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6B7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저장소 비교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F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07 · 런타임 아키텍처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2-레인 구조: 질의시점 · 배치시점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LLM(S7)을 동기 응답 경로에서 빼면 체감 지연이 사라지고 비용도 배치 할인 구간으로 내려간다. 두 레인의 접점은 사전 하나뿐.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1064240" cy="1737360"/>
          </a:xfrm>
          <a:prstGeom prst="rect">
            <a:avLst/>
          </a:prstGeom>
          <a:solidFill>
            <a:srgbClr val="D7E8E4"/>
          </a:solidFill>
          <a:ln w="12700">
            <a:solidFill>
              <a:srgbClr val="0F6B62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731520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LANE A · 질의시점 (동기 · SLA &lt; 300ms)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2423160"/>
            <a:ext cx="1627632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3D4C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423160"/>
            <a:ext cx="1536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에이전트 질의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368296" y="2761488"/>
            <a:ext cx="109728" cy="109728"/>
          </a:xfrm>
          <a:prstGeom prst="rightArrow">
            <a:avLst/>
          </a:prstGeom>
          <a:solidFill>
            <a:srgbClr val="3D4C46"/>
          </a:solidFill>
          <a:ln/>
        </p:spPr>
      </p:sp>
      <p:sp>
        <p:nvSpPr>
          <p:cNvPr id="10" name="Shape 8"/>
          <p:cNvSpPr/>
          <p:nvPr/>
        </p:nvSpPr>
        <p:spPr>
          <a:xfrm>
            <a:off x="2487168" y="2423160"/>
            <a:ext cx="1627632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3D4C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32888" y="2423160"/>
            <a:ext cx="1536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정규화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23944" y="2761488"/>
            <a:ext cx="109728" cy="109728"/>
          </a:xfrm>
          <a:prstGeom prst="rightArrow">
            <a:avLst/>
          </a:prstGeom>
          <a:solidFill>
            <a:srgbClr val="3D4C46"/>
          </a:solidFill>
          <a:ln/>
        </p:spPr>
      </p:sp>
      <p:sp>
        <p:nvSpPr>
          <p:cNvPr id="13" name="Shape 11"/>
          <p:cNvSpPr/>
          <p:nvPr/>
        </p:nvSpPr>
        <p:spPr>
          <a:xfrm>
            <a:off x="4242816" y="2423160"/>
            <a:ext cx="1627632" cy="777240"/>
          </a:xfrm>
          <a:prstGeom prst="rect">
            <a:avLst/>
          </a:prstGeom>
          <a:solidFill>
            <a:srgbClr val="D7E8E4"/>
          </a:solidFill>
          <a:ln w="9525">
            <a:solidFill>
              <a:srgbClr val="3D4C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88536" y="2423160"/>
            <a:ext cx="1536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S2·S3 사전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879592" y="2761488"/>
            <a:ext cx="109728" cy="109728"/>
          </a:xfrm>
          <a:prstGeom prst="rightArrow">
            <a:avLst/>
          </a:prstGeom>
          <a:solidFill>
            <a:srgbClr val="3D4C46"/>
          </a:solidFill>
          <a:ln/>
        </p:spPr>
      </p:sp>
      <p:sp>
        <p:nvSpPr>
          <p:cNvPr id="16" name="Shape 14"/>
          <p:cNvSpPr/>
          <p:nvPr/>
        </p:nvSpPr>
        <p:spPr>
          <a:xfrm>
            <a:off x="5998464" y="2423160"/>
            <a:ext cx="1627632" cy="777240"/>
          </a:xfrm>
          <a:prstGeom prst="rect">
            <a:avLst/>
          </a:prstGeom>
          <a:solidFill>
            <a:srgbClr val="F5E7CC"/>
          </a:solidFill>
          <a:ln w="9525">
            <a:solidFill>
              <a:srgbClr val="3D4C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44184" y="2423160"/>
            <a:ext cx="1536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S4·S5 규칙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635240" y="2761488"/>
            <a:ext cx="109728" cy="109728"/>
          </a:xfrm>
          <a:prstGeom prst="rightArrow">
            <a:avLst/>
          </a:prstGeom>
          <a:solidFill>
            <a:srgbClr val="3D4C46"/>
          </a:solidFill>
          <a:ln/>
        </p:spPr>
      </p:sp>
      <p:sp>
        <p:nvSpPr>
          <p:cNvPr id="19" name="Shape 17"/>
          <p:cNvSpPr/>
          <p:nvPr/>
        </p:nvSpPr>
        <p:spPr>
          <a:xfrm>
            <a:off x="7754112" y="2423160"/>
            <a:ext cx="1627632" cy="777240"/>
          </a:xfrm>
          <a:prstGeom prst="rect">
            <a:avLst/>
          </a:prstGeom>
          <a:solidFill>
            <a:srgbClr val="F2DCDE"/>
          </a:solidFill>
          <a:ln w="9525">
            <a:solidFill>
              <a:srgbClr val="3D4C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99832" y="2423160"/>
            <a:ext cx="1536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 하이브리드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390888" y="2761488"/>
            <a:ext cx="109728" cy="109728"/>
          </a:xfrm>
          <a:prstGeom prst="rightArrow">
            <a:avLst/>
          </a:prstGeom>
          <a:solidFill>
            <a:srgbClr val="3D4C46"/>
          </a:solidFill>
          <a:ln/>
        </p:spPr>
      </p:sp>
      <p:sp>
        <p:nvSpPr>
          <p:cNvPr id="22" name="Shape 20"/>
          <p:cNvSpPr/>
          <p:nvPr/>
        </p:nvSpPr>
        <p:spPr>
          <a:xfrm>
            <a:off x="9509760" y="2423160"/>
            <a:ext cx="1627632" cy="777240"/>
          </a:xfrm>
          <a:prstGeom prst="rect">
            <a:avLst/>
          </a:prstGeom>
          <a:solidFill>
            <a:srgbClr val="14201C"/>
          </a:solidFill>
          <a:ln w="9525">
            <a:solidFill>
              <a:srgbClr val="14201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55480" y="2423160"/>
            <a:ext cx="1536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응답+근거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31520" y="331012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4C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S7(LLM)은 이 레인에 없다 — 미해결이면 후보 3건을 노출하고 즉시 응답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8640" y="3977640"/>
            <a:ext cx="11064240" cy="1737360"/>
          </a:xfrm>
          <a:prstGeom prst="rect">
            <a:avLst/>
          </a:prstGeom>
          <a:solidFill>
            <a:srgbClr val="F5E7CC"/>
          </a:solidFill>
          <a:ln w="12700">
            <a:solidFill>
              <a:srgbClr val="A86A05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31520" y="40873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6A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LANE B · 배치시점 (비동기 · 야간)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31520" y="4480560"/>
            <a:ext cx="196596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3D4C4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448056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미해결 질의수집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706624" y="4818888"/>
            <a:ext cx="109728" cy="109728"/>
          </a:xfrm>
          <a:prstGeom prst="rightArrow">
            <a:avLst/>
          </a:prstGeom>
          <a:solidFill>
            <a:srgbClr val="3D4C46"/>
          </a:solidFill>
          <a:ln/>
        </p:spPr>
      </p:sp>
      <p:sp>
        <p:nvSpPr>
          <p:cNvPr id="30" name="Shape 28"/>
          <p:cNvSpPr/>
          <p:nvPr/>
        </p:nvSpPr>
        <p:spPr>
          <a:xfrm>
            <a:off x="2825496" y="4480560"/>
            <a:ext cx="196596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3D4C4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71216" y="448056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 LLM추출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800600" y="4818888"/>
            <a:ext cx="109728" cy="109728"/>
          </a:xfrm>
          <a:prstGeom prst="rightArrow">
            <a:avLst/>
          </a:prstGeom>
          <a:solidFill>
            <a:srgbClr val="3D4C46"/>
          </a:solidFill>
          <a:ln/>
        </p:spPr>
      </p:sp>
      <p:sp>
        <p:nvSpPr>
          <p:cNvPr id="33" name="Shape 31"/>
          <p:cNvSpPr/>
          <p:nvPr/>
        </p:nvSpPr>
        <p:spPr>
          <a:xfrm>
            <a:off x="4919472" y="4480560"/>
            <a:ext cx="196596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3D4C4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65192" y="448056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문서청크 추출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894576" y="4818888"/>
            <a:ext cx="109728" cy="109728"/>
          </a:xfrm>
          <a:prstGeom prst="rightArrow">
            <a:avLst/>
          </a:prstGeom>
          <a:solidFill>
            <a:srgbClr val="3D4C46"/>
          </a:solidFill>
          <a:ln/>
        </p:spPr>
      </p:sp>
      <p:sp>
        <p:nvSpPr>
          <p:cNvPr id="36" name="Shape 34"/>
          <p:cNvSpPr/>
          <p:nvPr/>
        </p:nvSpPr>
        <p:spPr>
          <a:xfrm>
            <a:off x="7013448" y="4480560"/>
            <a:ext cx="196596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3D4C4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59168" y="448056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적재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988552" y="4818888"/>
            <a:ext cx="109728" cy="109728"/>
          </a:xfrm>
          <a:prstGeom prst="rightArrow">
            <a:avLst/>
          </a:prstGeom>
          <a:solidFill>
            <a:srgbClr val="3D4C46"/>
          </a:solidFill>
          <a:ln/>
        </p:spPr>
      </p:sp>
      <p:sp>
        <p:nvSpPr>
          <p:cNvPr id="39" name="Shape 37"/>
          <p:cNvSpPr/>
          <p:nvPr/>
        </p:nvSpPr>
        <p:spPr>
          <a:xfrm>
            <a:off x="9107424" y="4480560"/>
            <a:ext cx="1965960" cy="777240"/>
          </a:xfrm>
          <a:prstGeom prst="rect">
            <a:avLst/>
          </a:prstGeom>
          <a:solidFill>
            <a:srgbClr val="E1DDF0"/>
          </a:solidFill>
          <a:ln w="9525">
            <a:solidFill>
              <a:srgbClr val="4A3E7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153144" y="448056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3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검수·승격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 flipH="1">
            <a:off x="9692640" y="3429000"/>
            <a:ext cx="1280160" cy="502920"/>
          </a:xfrm>
          <a:prstGeom prst="bentArrow">
            <a:avLst/>
          </a:prstGeom>
          <a:ln w="19050">
            <a:solidFill>
              <a:srgbClr val="0F6B6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1520" y="580644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SME 승인 → LANE A 사전 갱신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31520" y="608076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4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LANE B가 죽어도 LANE A는 어제 사전으로 계속 서비스한다.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6B7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· 2-레인 아키텍처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F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08 · 연계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llm-wiki 산출물 분담 · graphify 위치</a:t>
            </a:r>
            <a:endParaRPr lang="en-US" sz="3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6035040" cy="2377440"/>
        </p:xfrm>
        <a:graphic>
          <a:graphicData uri="http://schemas.openxmlformats.org/drawingml/2006/table">
            <a:tbl>
              <a:tblPr/>
              <a:tblGrid>
                <a:gridCol w="1920240"/>
                <a:gridCol w="2834640"/>
                <a:gridCol w="12801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산출물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담는 것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갱신 주체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1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0F6B6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concepts/&lt;term&gt;.md</a:t>
                      </a:r>
                      <a:endParaRPr lang="en-US" sz="108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표준 용어 정의·문맥·프레임 서술 (정본)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0F6B6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entities/&lt;table&gt;.md</a:t>
                      </a:r>
                      <a:endParaRPr lang="en-US" sz="108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테이블·컬럼·코드값 카드 (소스 결정적 생성)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배치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0F6B6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Neo4j :Alias</a:t>
                      </a:r>
                      <a:endParaRPr lang="en-US" sz="108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기계가 조회하는 별칭 인덱스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캐스케이드+SME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0F6B6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explorations/</a:t>
                      </a:r>
                      <a:endParaRPr lang="en-US" sz="108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미해결 현장어 조사 메모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SME(임시)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977640"/>
            <a:ext cx="6035040" cy="914400"/>
          </a:xfrm>
          <a:prstGeom prst="roundRect">
            <a:avLst>
              <a:gd name="adj" fmla="val 4000"/>
            </a:avLst>
          </a:prstGeom>
          <a:solidFill>
            <a:srgbClr val="F2DCDE"/>
          </a:solidFill>
          <a:ln w="9525">
            <a:solidFill>
              <a:srgbClr val="8C2F3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4005072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8C2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단일 진실 원천 —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Neo4j가 원천, 마크다운은 렌더링 산출물. 방향을 하나로 고정하지 않으면 양방향 편집 시 즉시 불일치가 발생한다.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858000" y="1463040"/>
            <a:ext cx="4754880" cy="3429000"/>
          </a:xfrm>
          <a:prstGeom prst="rect">
            <a:avLst/>
          </a:prstGeom>
          <a:solidFill>
            <a:srgbClr val="E1DDF0"/>
          </a:solidFill>
          <a:ln w="12700">
            <a:solidFill>
              <a:srgbClr val="4A3E7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86600" y="162763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3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graphify — PyPI: graphifyy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086600" y="19659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D4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코드베이스·문서·SQL스키마를 로컬 tree-sitter AST로 파싱해 질의 가능한 지식그래프로 변환하는 OSS CLI (Apache 2.0)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086600" y="260604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3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 3 수확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086600" y="285292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테이블·컬럼·심볼 그래프를 API 호출 없이 로컬 추출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086600" y="330098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3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--wiki 모드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086600" y="354787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위키피디아 스타일 MD + index.md 자동 생성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086600" y="399592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3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--mcp 서버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086600" y="4242816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query_graph, shortest_path 등 에이전트 직접 호출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6B7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· llm-wiki · graphify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F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09 · 평가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핵심 지표와 골든셋 구성</a:t>
            </a:r>
            <a:endParaRPr lang="en-US" sz="3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6400800" cy="2468880"/>
        </p:xfrm>
        <a:graphic>
          <a:graphicData uri="http://schemas.openxmlformats.org/drawingml/2006/table">
            <a:tbl>
              <a:tblPr/>
              <a:tblGrid>
                <a:gridCol w="1737360"/>
                <a:gridCol w="2834640"/>
                <a:gridCol w="18288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지표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정의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목표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1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 종결률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정확 일치로 끝난 질의 비율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 이상 — 건강도 최고 지표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해석 커버리지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S1~S6 중 하나로 해석된 비율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92% 이상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등급 세탁률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관련추정이 검수없이 사전 유입된 건수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— 1건도 설계 결함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검수 처리량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주당 SME 처리건 / 유입건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 미만이면 큐 무한증가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223760" y="15087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골든셋 200건 구성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223760" y="1965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정확일치(S2)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9098280" y="1993392"/>
            <a:ext cx="2560320" cy="201168"/>
          </a:xfrm>
          <a:prstGeom prst="rect">
            <a:avLst/>
          </a:prstGeom>
          <a:solidFill>
            <a:srgbClr val="E4E9E0"/>
          </a:solidFill>
          <a:ln/>
        </p:spPr>
      </p:sp>
      <p:sp>
        <p:nvSpPr>
          <p:cNvPr id="8" name="Shape 5"/>
          <p:cNvSpPr/>
          <p:nvPr/>
        </p:nvSpPr>
        <p:spPr>
          <a:xfrm>
            <a:off x="9098280" y="1993392"/>
            <a:ext cx="2560320" cy="201168"/>
          </a:xfrm>
          <a:prstGeom prst="rect">
            <a:avLst/>
          </a:prstGeom>
          <a:solidFill>
            <a:srgbClr val="0F6B62"/>
          </a:solidFill>
          <a:ln/>
        </p:spPr>
      </p:sp>
      <p:sp>
        <p:nvSpPr>
          <p:cNvPr id="9" name="Text 6"/>
          <p:cNvSpPr/>
          <p:nvPr/>
        </p:nvSpPr>
        <p:spPr>
          <a:xfrm>
            <a:off x="11658600" y="1965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C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223760" y="2331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부분변형(S3)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9098280" y="2359152"/>
            <a:ext cx="2560320" cy="201168"/>
          </a:xfrm>
          <a:prstGeom prst="rect">
            <a:avLst/>
          </a:prstGeom>
          <a:solidFill>
            <a:srgbClr val="E4E9E0"/>
          </a:solidFill>
          <a:ln/>
        </p:spPr>
      </p:sp>
      <p:sp>
        <p:nvSpPr>
          <p:cNvPr id="12" name="Shape 9"/>
          <p:cNvSpPr/>
          <p:nvPr/>
        </p:nvSpPr>
        <p:spPr>
          <a:xfrm>
            <a:off x="9098280" y="2359152"/>
            <a:ext cx="2560320" cy="201168"/>
          </a:xfrm>
          <a:prstGeom prst="rect">
            <a:avLst/>
          </a:prstGeom>
          <a:solidFill>
            <a:srgbClr val="0F6B62"/>
          </a:solidFill>
          <a:ln/>
        </p:spPr>
      </p:sp>
      <p:sp>
        <p:nvSpPr>
          <p:cNvPr id="13" name="Text 10"/>
          <p:cNvSpPr/>
          <p:nvPr/>
        </p:nvSpPr>
        <p:spPr>
          <a:xfrm>
            <a:off x="11658600" y="23317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C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223760" y="2697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복합현장어(S4)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9098280" y="2724912"/>
            <a:ext cx="2560320" cy="201168"/>
          </a:xfrm>
          <a:prstGeom prst="rect">
            <a:avLst/>
          </a:prstGeom>
          <a:solidFill>
            <a:srgbClr val="E4E9E0"/>
          </a:solidFill>
          <a:ln/>
        </p:spPr>
      </p:sp>
      <p:sp>
        <p:nvSpPr>
          <p:cNvPr id="16" name="Shape 13"/>
          <p:cNvSpPr/>
          <p:nvPr/>
        </p:nvSpPr>
        <p:spPr>
          <a:xfrm>
            <a:off x="9098280" y="2724912"/>
            <a:ext cx="2560320" cy="201168"/>
          </a:xfrm>
          <a:prstGeom prst="rect">
            <a:avLst/>
          </a:prstGeom>
          <a:solidFill>
            <a:srgbClr val="A86A05"/>
          </a:solidFill>
          <a:ln/>
        </p:spPr>
      </p:sp>
      <p:sp>
        <p:nvSpPr>
          <p:cNvPr id="17" name="Text 14"/>
          <p:cNvSpPr/>
          <p:nvPr/>
        </p:nvSpPr>
        <p:spPr>
          <a:xfrm>
            <a:off x="11658600" y="2697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C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223760" y="3063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실오타(S5)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9098280" y="3090672"/>
            <a:ext cx="2560320" cy="201168"/>
          </a:xfrm>
          <a:prstGeom prst="rect">
            <a:avLst/>
          </a:prstGeom>
          <a:solidFill>
            <a:srgbClr val="E4E9E0"/>
          </a:solidFill>
          <a:ln/>
        </p:spPr>
      </p:sp>
      <p:sp>
        <p:nvSpPr>
          <p:cNvPr id="20" name="Shape 17"/>
          <p:cNvSpPr/>
          <p:nvPr/>
        </p:nvSpPr>
        <p:spPr>
          <a:xfrm>
            <a:off x="9098280" y="3090672"/>
            <a:ext cx="2560320" cy="201168"/>
          </a:xfrm>
          <a:prstGeom prst="rect">
            <a:avLst/>
          </a:prstGeom>
          <a:solidFill>
            <a:srgbClr val="A86A05"/>
          </a:solidFill>
          <a:ln/>
        </p:spPr>
      </p:sp>
      <p:sp>
        <p:nvSpPr>
          <p:cNvPr id="21" name="Text 18"/>
          <p:cNvSpPr/>
          <p:nvPr/>
        </p:nvSpPr>
        <p:spPr>
          <a:xfrm>
            <a:off x="11658600" y="3063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C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7223760" y="3429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서술질의(S6)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9098280" y="3456432"/>
            <a:ext cx="2560320" cy="201168"/>
          </a:xfrm>
          <a:prstGeom prst="rect">
            <a:avLst/>
          </a:prstGeom>
          <a:solidFill>
            <a:srgbClr val="E4E9E0"/>
          </a:solidFill>
          <a:ln/>
        </p:spPr>
      </p:sp>
      <p:sp>
        <p:nvSpPr>
          <p:cNvPr id="24" name="Shape 21"/>
          <p:cNvSpPr/>
          <p:nvPr/>
        </p:nvSpPr>
        <p:spPr>
          <a:xfrm>
            <a:off x="9098280" y="3456432"/>
            <a:ext cx="1280160" cy="201168"/>
          </a:xfrm>
          <a:prstGeom prst="rect">
            <a:avLst/>
          </a:prstGeom>
          <a:solidFill>
            <a:srgbClr val="8C2F3B"/>
          </a:solidFill>
          <a:ln/>
        </p:spPr>
      </p:sp>
      <p:sp>
        <p:nvSpPr>
          <p:cNvPr id="25" name="Text 22"/>
          <p:cNvSpPr/>
          <p:nvPr/>
        </p:nvSpPr>
        <p:spPr>
          <a:xfrm>
            <a:off x="11658600" y="34290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C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7223760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해석거부(음성)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9098280" y="3822192"/>
            <a:ext cx="2560320" cy="201168"/>
          </a:xfrm>
          <a:prstGeom prst="rect">
            <a:avLst/>
          </a:prstGeom>
          <a:solidFill>
            <a:srgbClr val="E4E9E0"/>
          </a:solidFill>
          <a:ln/>
        </p:spPr>
      </p:sp>
      <p:sp>
        <p:nvSpPr>
          <p:cNvPr id="28" name="Shape 25"/>
          <p:cNvSpPr/>
          <p:nvPr/>
        </p:nvSpPr>
        <p:spPr>
          <a:xfrm>
            <a:off x="9098280" y="3822192"/>
            <a:ext cx="1280160" cy="201168"/>
          </a:xfrm>
          <a:prstGeom prst="rect">
            <a:avLst/>
          </a:prstGeom>
          <a:solidFill>
            <a:srgbClr val="3D4C46"/>
          </a:solidFill>
          <a:ln/>
        </p:spPr>
      </p:sp>
      <p:sp>
        <p:nvSpPr>
          <p:cNvPr id="29" name="Text 26"/>
          <p:cNvSpPr/>
          <p:nvPr/>
        </p:nvSpPr>
        <p:spPr>
          <a:xfrm>
            <a:off x="11658600" y="3794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C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7223760" y="4206240"/>
            <a:ext cx="4389120" cy="1691640"/>
          </a:xfrm>
          <a:prstGeom prst="roundRect">
            <a:avLst>
              <a:gd name="adj" fmla="val 2162"/>
            </a:avLst>
          </a:prstGeom>
          <a:solidFill>
            <a:srgbClr val="F2DCDE"/>
          </a:solidFill>
          <a:ln w="9525">
            <a:solidFill>
              <a:srgbClr val="8C2F3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452360" y="4297680"/>
            <a:ext cx="3931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8C2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음성 케이스가 없으면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커버리지만 보고 θ를 계속 낮추게 되고, 어느 순간 시스템이 모든 것을 아무것에나 매핑하기 시작한다 — 캐스케이드형 시스템의 전형적 붕괴 경로.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548640" y="4206240"/>
            <a:ext cx="6400800" cy="1691640"/>
          </a:xfrm>
          <a:prstGeom prst="roundRect">
            <a:avLst>
              <a:gd name="adj" fmla="val 2162"/>
            </a:avLst>
          </a:prstGeom>
          <a:solidFill>
            <a:srgbClr val="D7E8E4"/>
          </a:solidFill>
          <a:ln w="9525">
            <a:solidFill>
              <a:srgbClr val="0F6B62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77240" y="4297680"/>
            <a:ext cx="5943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b="1" dirty="0">
                <a:solidFill>
                  <a:srgbClr val="0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RRF 튜닝 시점 — </a:t>
            </a:r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k=60을 기본값으로 시작. 라벨링된 질의쌍 50개 이상 확보 후 convex combination으로 전환. cross-encoder 리랭커 추가가 단일 조치로는 정밀도 향상 폭이 가장 크다. 하이브리드 이득은 어휘 불일치 정도에 따라 +1.7%~+24%로 편차가 크므로 반드시 자체 질의로 측정한다.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6B7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· 평가 지표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F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10 · 로드맵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도입 로드맵 — G0 ~ G3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51760" cy="502920"/>
          </a:xfrm>
          <a:prstGeom prst="rect">
            <a:avLst/>
          </a:prstGeom>
          <a:solidFill>
            <a:srgbClr val="0F6B6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544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G0  </a:t>
            </a:r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2주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121408"/>
            <a:ext cx="265176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2249424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범위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13232" y="2478024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CSV→그래프 적재, S1·S2만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13232" y="3072384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산출물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13232" y="3300984"/>
            <a:ext cx="23225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D4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스키마, 정규화, 별칭300건, 골든셋200건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13232" y="4279392"/>
            <a:ext cx="2322576" cy="0"/>
          </a:xfrm>
          <a:prstGeom prst="line">
            <a:avLst/>
          </a:prstGeom>
          <a:noFill/>
          <a:ln w="6350">
            <a:solidFill>
              <a:srgbClr val="C7D0C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4379976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진행 기준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13232" y="4599432"/>
            <a:ext cx="23225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종결률 측정 — 이후 판단의 기준선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9544" y="3657600"/>
            <a:ext cx="118872" cy="182880"/>
          </a:xfrm>
          <a:prstGeom prst="rightArrow">
            <a:avLst/>
          </a:prstGeom>
          <a:solidFill>
            <a:srgbClr val="3D4C46"/>
          </a:solidFill>
          <a:ln/>
        </p:spPr>
      </p:sp>
      <p:sp>
        <p:nvSpPr>
          <p:cNvPr id="15" name="Shape 13"/>
          <p:cNvSpPr/>
          <p:nvPr/>
        </p:nvSpPr>
        <p:spPr>
          <a:xfrm>
            <a:off x="3337560" y="1554480"/>
            <a:ext cx="2651760" cy="502920"/>
          </a:xfrm>
          <a:prstGeom prst="rect">
            <a:avLst/>
          </a:prstGeom>
          <a:solidFill>
            <a:srgbClr val="0F6B62"/>
          </a:solidFill>
          <a:ln/>
        </p:spPr>
      </p:sp>
      <p:sp>
        <p:nvSpPr>
          <p:cNvPr id="16" name="Text 14"/>
          <p:cNvSpPr/>
          <p:nvPr/>
        </p:nvSpPr>
        <p:spPr>
          <a:xfrm>
            <a:off x="3337560" y="15544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G1  </a:t>
            </a:r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3주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337560" y="2121408"/>
            <a:ext cx="265176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C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02152" y="2249424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범위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502152" y="2478024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S3·S4·S5 추가, 검수 UI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502152" y="3072384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산출물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502152" y="3300984"/>
            <a:ext cx="23225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D4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퍼지매칭, 어근사전, 자모거리, staging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502152" y="4279392"/>
            <a:ext cx="2322576" cy="0"/>
          </a:xfrm>
          <a:prstGeom prst="line">
            <a:avLst/>
          </a:prstGeom>
          <a:noFill/>
          <a:ln w="6350">
            <a:solidFill>
              <a:srgbClr val="C7D0C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02152" y="4379976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진행 기준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502152" y="4599432"/>
            <a:ext cx="23225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커버리지 85% 이상이면 여기서 멈춤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998464" y="3657600"/>
            <a:ext cx="118872" cy="182880"/>
          </a:xfrm>
          <a:prstGeom prst="rightArrow">
            <a:avLst/>
          </a:prstGeom>
          <a:solidFill>
            <a:srgbClr val="3D4C46"/>
          </a:solidFill>
          <a:ln/>
        </p:spPr>
      </p:sp>
      <p:sp>
        <p:nvSpPr>
          <p:cNvPr id="26" name="Shape 24"/>
          <p:cNvSpPr/>
          <p:nvPr/>
        </p:nvSpPr>
        <p:spPr>
          <a:xfrm>
            <a:off x="6126480" y="1554480"/>
            <a:ext cx="2651760" cy="502920"/>
          </a:xfrm>
          <a:prstGeom prst="rect">
            <a:avLst/>
          </a:prstGeom>
          <a:solidFill>
            <a:srgbClr val="A86A05"/>
          </a:solidFill>
          <a:ln/>
        </p:spPr>
      </p:sp>
      <p:sp>
        <p:nvSpPr>
          <p:cNvPr id="27" name="Text 25"/>
          <p:cNvSpPr/>
          <p:nvPr/>
        </p:nvSpPr>
        <p:spPr>
          <a:xfrm>
            <a:off x="6126480" y="15544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G2  </a:t>
            </a:r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3주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126480" y="2121408"/>
            <a:ext cx="265176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C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91072" y="2249424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6A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범위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91072" y="2478024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 하이브리드 (Milvus)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291072" y="3072384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6A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산출물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91072" y="3300984"/>
            <a:ext cx="23225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D4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임베딩 파이프라인, RRF, 마진게이트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91072" y="4279392"/>
            <a:ext cx="2322576" cy="0"/>
          </a:xfrm>
          <a:prstGeom prst="line">
            <a:avLst/>
          </a:prstGeom>
          <a:noFill/>
          <a:ln w="6350">
            <a:solidFill>
              <a:srgbClr val="C7D0C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91072" y="4379976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6A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진행 기준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291072" y="4599432"/>
            <a:ext cx="23225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정밀도 80% 미만이면 사전반영 금지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787384" y="3657600"/>
            <a:ext cx="118872" cy="182880"/>
          </a:xfrm>
          <a:prstGeom prst="rightArrow">
            <a:avLst/>
          </a:prstGeom>
          <a:solidFill>
            <a:srgbClr val="3D4C46"/>
          </a:solidFill>
          <a:ln/>
        </p:spPr>
      </p:sp>
      <p:sp>
        <p:nvSpPr>
          <p:cNvPr id="37" name="Shape 35"/>
          <p:cNvSpPr/>
          <p:nvPr/>
        </p:nvSpPr>
        <p:spPr>
          <a:xfrm>
            <a:off x="8915400" y="1554480"/>
            <a:ext cx="2651760" cy="502920"/>
          </a:xfrm>
          <a:prstGeom prst="rect">
            <a:avLst/>
          </a:prstGeom>
          <a:solidFill>
            <a:srgbClr val="8C2F3B"/>
          </a:solidFill>
          <a:ln/>
        </p:spPr>
      </p:sp>
      <p:sp>
        <p:nvSpPr>
          <p:cNvPr id="38" name="Text 36"/>
          <p:cNvSpPr/>
          <p:nvPr/>
        </p:nvSpPr>
        <p:spPr>
          <a:xfrm>
            <a:off x="8915400" y="15544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G3  </a:t>
            </a:r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4주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8915400" y="2121408"/>
            <a:ext cx="265176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C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079992" y="2249424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C2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범위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9079992" y="2478024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 배치 레인, llm-wiki 렌더링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9079992" y="3072384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C2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산출물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9079992" y="3300984"/>
            <a:ext cx="23225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D4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LLM추출 배치, concepts/*.md 자동생성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9079992" y="4279392"/>
            <a:ext cx="2322576" cy="0"/>
          </a:xfrm>
          <a:prstGeom prst="line">
            <a:avLst/>
          </a:prstGeom>
          <a:noFill/>
          <a:ln w="6350">
            <a:solidFill>
              <a:srgbClr val="C7D0C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079992" y="4379976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C2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진행 기준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9079992" y="4599432"/>
            <a:ext cx="23225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검수 처리량 ≥1.0 유지 가능 여부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48640" y="5806440"/>
            <a:ext cx="11064240" cy="548640"/>
          </a:xfrm>
          <a:prstGeom prst="roundRect">
            <a:avLst>
              <a:gd name="adj" fmla="val 6667"/>
            </a:avLst>
          </a:prstGeom>
          <a:solidFill>
            <a:srgbClr val="F5E7CC"/>
          </a:solidFill>
          <a:ln w="9525">
            <a:solidFill>
              <a:srgbClr val="A86A0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7240" y="5824728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6A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G1에서 멈출 용기 — </a:t>
            </a:r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커버리지 85%를 규칙 단계에서 달성했다면, S6·S7은 나머지 15%를 위해 운영 복잡도를 3배로 올리는 선택이다.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6B7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· 로드맵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F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10 · 리스크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주요 리스크와 대응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08760"/>
            <a:ext cx="73152" cy="1234440"/>
          </a:xfrm>
          <a:prstGeom prst="rect">
            <a:avLst/>
          </a:prstGeom>
          <a:solidFill>
            <a:srgbClr val="8C2F3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0020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등급 세탁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892808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징후: 추정 결과가 사전에 유입돼 며칠 뒤 “검수됨”으로 재등장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2295144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대응: staging/curated 물리 분리, 세탁률 0 모니터링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63640" y="1508760"/>
            <a:ext cx="53492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C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1508760"/>
            <a:ext cx="73152" cy="1234440"/>
          </a:xfrm>
          <a:prstGeom prst="rect">
            <a:avLst/>
          </a:prstGeom>
          <a:solidFill>
            <a:srgbClr val="A86A05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60020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검수 병목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1892808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징후: 큐 길이가 주 단위로 단조 증가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92240" y="2295144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대응: “2회 이상 등장” 진입조건, 빈도순 정렬 UI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926080"/>
            <a:ext cx="53492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C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926080"/>
            <a:ext cx="73152" cy="1234440"/>
          </a:xfrm>
          <a:prstGeom prst="rect">
            <a:avLst/>
          </a:prstGeom>
          <a:solidFill>
            <a:srgbClr val="8C2F3B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01752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θ 표류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" y="3310128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징후: 커버리지를 올리려 θ를 반복 하향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3712464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대응: 음성케이스 20건 CI 회귀, 실패시 배포차단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63640" y="2926080"/>
            <a:ext cx="53492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C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63640" y="2926080"/>
            <a:ext cx="73152" cy="1234440"/>
          </a:xfrm>
          <a:prstGeom prst="rect">
            <a:avLst/>
          </a:prstGeom>
          <a:solidFill>
            <a:srgbClr val="A86A05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301752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중의성 폭발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92240" y="3310128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징후: 같은 현장어가 공정별로 다른 용어를 지칭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92240" y="3712464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대응: scope 필드를 초기부터 반영 (사후 추가는 전량 재검수)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4343400"/>
            <a:ext cx="53492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C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343400"/>
            <a:ext cx="73152" cy="1234440"/>
          </a:xfrm>
          <a:prstGeom prst="rect">
            <a:avLst/>
          </a:prstGeom>
          <a:solidFill>
            <a:srgbClr val="0F6B62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443484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사전 노후화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77240" y="4727448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징후: 폐기된 용어의 별칭이 계속 매칭됨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77240" y="5129784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대응: valid_until 운영, 패치이력 연동 자동만료 탐지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63640" y="4343400"/>
            <a:ext cx="53492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C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63640" y="4343400"/>
            <a:ext cx="73152" cy="1234440"/>
          </a:xfrm>
          <a:prstGeom prst="rect">
            <a:avLst/>
          </a:prstGeom>
          <a:solidFill>
            <a:srgbClr val="0F6B62"/>
          </a:solidFill>
          <a:ln/>
        </p:spPr>
      </p:sp>
      <p:sp>
        <p:nvSpPr>
          <p:cNvPr id="31" name="Text 29"/>
          <p:cNvSpPr/>
          <p:nvPr/>
        </p:nvSpPr>
        <p:spPr>
          <a:xfrm>
            <a:off x="6492240" y="443484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동기화 부채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492240" y="4727448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징후: Neo4j Term 삭제 후 Milvus 벡터 잔존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92240" y="5129784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대응: 변경이벤트→재적재 잡, 주간 정합성 리포트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6B7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· 리스크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8FD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CLOSING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핵심 요약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8FD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43000" y="146304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추론은 1→2에만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343400" y="1463040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7D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식별자 연결은 결정적 조인으로 남긴다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121408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8FD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43000" y="212140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단계 = 근거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343400" y="2121408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7D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별도 신뢰도 모델 없이 캐스케이드 단계가 곧 근거 등급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779776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8FD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43000" y="2779776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실패의 자산화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343400" y="2779776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7D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미해결 질의는 스테이징되어 사전을 스스로 키운다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438144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8FD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43000" y="3438144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G1에서 멈출 용기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343400" y="3438144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7D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규칙 단계가 커버리지 85%를 넘으면 확장은 신중히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279392"/>
            <a:ext cx="11064240" cy="0"/>
          </a:xfrm>
          <a:prstGeom prst="line">
            <a:avLst/>
          </a:prstGeom>
          <a:noFill/>
          <a:ln w="9525">
            <a:solidFill>
              <a:srgbClr val="35473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3891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FD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주요 출처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4663440"/>
            <a:ext cx="11064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–"/>
            </a:pPr>
            <a:r>
              <a:rPr lang="en-US" sz="950" dirty="0">
                <a:solidFill>
                  <a:srgbClr val="9FB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Alam et al. (2022) Neural Entity Linking: A Survey — Semantic Web Journal</a:t>
            </a:r>
            <a:endParaRPr lang="en-US" sz="950" dirty="0"/>
          </a:p>
          <a:p>
            <a:pPr marL="342900" indent="-342900">
              <a:lnSpc>
                <a:spcPct val="108000"/>
              </a:lnSpc>
              <a:buSzPct val="100000"/>
              <a:buChar char="–"/>
            </a:pPr>
            <a:r>
              <a:rPr lang="en-US" sz="950" dirty="0">
                <a:solidFill>
                  <a:srgbClr val="9FB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W3C SKOS Simple Knowledge Organization System Reference</a:t>
            </a:r>
            <a:endParaRPr lang="en-US" sz="950" dirty="0"/>
          </a:p>
          <a:p>
            <a:pPr marL="342900" indent="-342900">
              <a:lnSpc>
                <a:spcPct val="108000"/>
              </a:lnSpc>
              <a:buSzPct val="100000"/>
              <a:buChar char="–"/>
            </a:pPr>
            <a:r>
              <a:rPr lang="en-US" sz="950" dirty="0">
                <a:solidFill>
                  <a:srgbClr val="9FB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Kiwi: 통계적 언어모델·Skip-Bigram 기반 한국어 형태소 분석기 — 디지털인문학</a:t>
            </a:r>
            <a:endParaRPr lang="en-US" sz="950" dirty="0"/>
          </a:p>
          <a:p>
            <a:pPr marL="342900" indent="-342900">
              <a:lnSpc>
                <a:spcPct val="108000"/>
              </a:lnSpc>
              <a:buSzPct val="100000"/>
              <a:buChar char="–"/>
            </a:pPr>
            <a:r>
              <a:rPr lang="en-US" sz="950" dirty="0">
                <a:solidFill>
                  <a:srgbClr val="9FB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Cypher Manual — Full-text indexes / apoc.text.levenshteinSimilarity</a:t>
            </a:r>
            <a:endParaRPr lang="en-US" sz="950" dirty="0"/>
          </a:p>
          <a:p>
            <a:pPr marL="342900" indent="-342900">
              <a:lnSpc>
                <a:spcPct val="108000"/>
              </a:lnSpc>
              <a:buSzPct val="100000"/>
              <a:buChar char="–"/>
            </a:pPr>
            <a:r>
              <a:rPr lang="en-US" sz="950" dirty="0">
                <a:solidFill>
                  <a:srgbClr val="9FB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PremAI / InfoQ / Redis — Hybrid Search for RAG (BM25+Vector+RRF), 2026</a:t>
            </a:r>
            <a:endParaRPr lang="en-US" sz="950" dirty="0"/>
          </a:p>
          <a:p>
            <a:pPr marL="342900" indent="-342900">
              <a:lnSpc>
                <a:spcPct val="108000"/>
              </a:lnSpc>
              <a:buSzPct val="100000"/>
              <a:buChar char="–"/>
            </a:pPr>
            <a:r>
              <a:rPr lang="en-US" sz="950" dirty="0">
                <a:solidFill>
                  <a:srgbClr val="9FB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Graphify-Labs/graphify (GitHub) · PyPI graphifyy</a:t>
            </a:r>
            <a:endParaRPr lang="en-US" sz="950" dirty="0"/>
          </a:p>
          <a:p>
            <a:pPr marL="342900" indent="-342900">
              <a:lnSpc>
                <a:spcPct val="108000"/>
              </a:lnSpc>
              <a:buSzPct val="100000"/>
              <a:buChar char="–"/>
            </a:pPr>
            <a:r>
              <a:rPr lang="en-US" sz="950" dirty="0">
                <a:solidFill>
                  <a:srgbClr val="9FB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Huang (2024) Disambiguate Entity Matching using LLMs — GUIDE-AI'24</a:t>
            </a:r>
            <a:endParaRPr lang="en-US" sz="950" dirty="0"/>
          </a:p>
          <a:p>
            <a:pPr marL="342900" indent="-342900">
              <a:lnSpc>
                <a:spcPct val="108000"/>
              </a:lnSpc>
              <a:buSzPct val="100000"/>
              <a:buChar char="–"/>
            </a:pPr>
            <a:r>
              <a:rPr lang="en-US" sz="950" dirty="0">
                <a:solidFill>
                  <a:srgbClr val="9FB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내부: 03-extraction-staging-architecture.html / 01-wiki-structure-guide-v2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8640" y="6537960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70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현장어 해석 파이프라인 설계·구현 가이드 · MES-DevKG · 2026-08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2026-08-19T06:23:29Z</dcterms:created>
  <dcterms:modified xsi:type="dcterms:W3CDTF">2026-08-19T06:23:29Z</dcterms:modified>
</cp:coreProperties>
</file>